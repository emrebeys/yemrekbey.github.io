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7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1515A1D-80C3-A3C2-DBA5-D17EF0A87417}"/>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B2DCCCC6-A839-5C0F-A92A-612FCA9B65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118ED702-0CEF-A7E6-5E84-973C819D1F19}"/>
              </a:ext>
            </a:extLst>
          </p:cNvPr>
          <p:cNvSpPr>
            <a:spLocks noGrp="1"/>
          </p:cNvSpPr>
          <p:nvPr>
            <p:ph type="dt" sz="half" idx="10"/>
          </p:nvPr>
        </p:nvSpPr>
        <p:spPr/>
        <p:txBody>
          <a:bodyPr/>
          <a:lstStyle/>
          <a:p>
            <a:fld id="{A213E615-A4FD-4AD5-AC7E-7E407E5AB79E}" type="datetimeFigureOut">
              <a:rPr lang="tr-TR" smtClean="0"/>
              <a:t>30.09.2024</a:t>
            </a:fld>
            <a:endParaRPr lang="tr-TR"/>
          </a:p>
        </p:txBody>
      </p:sp>
      <p:sp>
        <p:nvSpPr>
          <p:cNvPr id="5" name="Alt Bilgi Yer Tutucusu 4">
            <a:extLst>
              <a:ext uri="{FF2B5EF4-FFF2-40B4-BE49-F238E27FC236}">
                <a16:creationId xmlns:a16="http://schemas.microsoft.com/office/drawing/2014/main" id="{57A4C160-2361-5044-ECCC-1293AE5DB79B}"/>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9140DED0-9798-67F4-5EA2-6A85BE6C3EBC}"/>
              </a:ext>
            </a:extLst>
          </p:cNvPr>
          <p:cNvSpPr>
            <a:spLocks noGrp="1"/>
          </p:cNvSpPr>
          <p:nvPr>
            <p:ph type="sldNum" sz="quarter" idx="12"/>
          </p:nvPr>
        </p:nvSpPr>
        <p:spPr/>
        <p:txBody>
          <a:bodyPr/>
          <a:lstStyle/>
          <a:p>
            <a:fld id="{FFEC6CDE-569B-48F4-9A50-B0696A5F4244}" type="slidenum">
              <a:rPr lang="tr-TR" smtClean="0"/>
              <a:t>‹#›</a:t>
            </a:fld>
            <a:endParaRPr lang="tr-TR"/>
          </a:p>
        </p:txBody>
      </p:sp>
    </p:spTree>
    <p:extLst>
      <p:ext uri="{BB962C8B-B14F-4D97-AF65-F5344CB8AC3E}">
        <p14:creationId xmlns:p14="http://schemas.microsoft.com/office/powerpoint/2010/main" val="2417660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053953A-4394-8F71-FB95-588F64BB0AB5}"/>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F800FF0F-12CD-8DD3-C827-F43FDBA813E0}"/>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A5FBBE43-A4AA-71B2-1980-3EE2E1A34C99}"/>
              </a:ext>
            </a:extLst>
          </p:cNvPr>
          <p:cNvSpPr>
            <a:spLocks noGrp="1"/>
          </p:cNvSpPr>
          <p:nvPr>
            <p:ph type="dt" sz="half" idx="10"/>
          </p:nvPr>
        </p:nvSpPr>
        <p:spPr/>
        <p:txBody>
          <a:bodyPr/>
          <a:lstStyle/>
          <a:p>
            <a:fld id="{A213E615-A4FD-4AD5-AC7E-7E407E5AB79E}" type="datetimeFigureOut">
              <a:rPr lang="tr-TR" smtClean="0"/>
              <a:t>30.09.2024</a:t>
            </a:fld>
            <a:endParaRPr lang="tr-TR"/>
          </a:p>
        </p:txBody>
      </p:sp>
      <p:sp>
        <p:nvSpPr>
          <p:cNvPr id="5" name="Alt Bilgi Yer Tutucusu 4">
            <a:extLst>
              <a:ext uri="{FF2B5EF4-FFF2-40B4-BE49-F238E27FC236}">
                <a16:creationId xmlns:a16="http://schemas.microsoft.com/office/drawing/2014/main" id="{7EF29A33-6113-1A72-C2F2-F24C61F30EDF}"/>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8082A1CA-F24C-9F73-F367-6F6605514F09}"/>
              </a:ext>
            </a:extLst>
          </p:cNvPr>
          <p:cNvSpPr>
            <a:spLocks noGrp="1"/>
          </p:cNvSpPr>
          <p:nvPr>
            <p:ph type="sldNum" sz="quarter" idx="12"/>
          </p:nvPr>
        </p:nvSpPr>
        <p:spPr/>
        <p:txBody>
          <a:bodyPr/>
          <a:lstStyle/>
          <a:p>
            <a:fld id="{FFEC6CDE-569B-48F4-9A50-B0696A5F4244}" type="slidenum">
              <a:rPr lang="tr-TR" smtClean="0"/>
              <a:t>‹#›</a:t>
            </a:fld>
            <a:endParaRPr lang="tr-TR"/>
          </a:p>
        </p:txBody>
      </p:sp>
    </p:spTree>
    <p:extLst>
      <p:ext uri="{BB962C8B-B14F-4D97-AF65-F5344CB8AC3E}">
        <p14:creationId xmlns:p14="http://schemas.microsoft.com/office/powerpoint/2010/main" val="3968812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A3BC176-ED65-AFE8-B9F1-B9A8435631EA}"/>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8B37754E-46B2-6C55-93E8-74905E6BB5A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E25AFFEA-A508-4278-43E3-536909E6D823}"/>
              </a:ext>
            </a:extLst>
          </p:cNvPr>
          <p:cNvSpPr>
            <a:spLocks noGrp="1"/>
          </p:cNvSpPr>
          <p:nvPr>
            <p:ph type="dt" sz="half" idx="10"/>
          </p:nvPr>
        </p:nvSpPr>
        <p:spPr/>
        <p:txBody>
          <a:bodyPr/>
          <a:lstStyle/>
          <a:p>
            <a:fld id="{A213E615-A4FD-4AD5-AC7E-7E407E5AB79E}" type="datetimeFigureOut">
              <a:rPr lang="tr-TR" smtClean="0"/>
              <a:t>30.09.2024</a:t>
            </a:fld>
            <a:endParaRPr lang="tr-TR"/>
          </a:p>
        </p:txBody>
      </p:sp>
      <p:sp>
        <p:nvSpPr>
          <p:cNvPr id="5" name="Alt Bilgi Yer Tutucusu 4">
            <a:extLst>
              <a:ext uri="{FF2B5EF4-FFF2-40B4-BE49-F238E27FC236}">
                <a16:creationId xmlns:a16="http://schemas.microsoft.com/office/drawing/2014/main" id="{158D6938-49F4-0BE4-6FE0-44027679EB3B}"/>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5BC372D9-2093-AD81-2025-823EE59D5A0C}"/>
              </a:ext>
            </a:extLst>
          </p:cNvPr>
          <p:cNvSpPr>
            <a:spLocks noGrp="1"/>
          </p:cNvSpPr>
          <p:nvPr>
            <p:ph type="sldNum" sz="quarter" idx="12"/>
          </p:nvPr>
        </p:nvSpPr>
        <p:spPr/>
        <p:txBody>
          <a:bodyPr/>
          <a:lstStyle/>
          <a:p>
            <a:fld id="{FFEC6CDE-569B-48F4-9A50-B0696A5F4244}" type="slidenum">
              <a:rPr lang="tr-TR" smtClean="0"/>
              <a:t>‹#›</a:t>
            </a:fld>
            <a:endParaRPr lang="tr-TR"/>
          </a:p>
        </p:txBody>
      </p:sp>
    </p:spTree>
    <p:extLst>
      <p:ext uri="{BB962C8B-B14F-4D97-AF65-F5344CB8AC3E}">
        <p14:creationId xmlns:p14="http://schemas.microsoft.com/office/powerpoint/2010/main" val="31229882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A7C052A-1D75-9DFC-B4A2-00E6BAA1DF67}"/>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0EF4CA0B-791D-50EF-0707-22510FE1FA52}"/>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DEA73EB5-75AE-408E-756D-54460F62422B}"/>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CCEE7BE4-EBD0-FADA-F0E4-03C1CF7A501F}"/>
              </a:ext>
            </a:extLst>
          </p:cNvPr>
          <p:cNvSpPr>
            <a:spLocks noGrp="1"/>
          </p:cNvSpPr>
          <p:nvPr>
            <p:ph type="dt" sz="half" idx="10"/>
          </p:nvPr>
        </p:nvSpPr>
        <p:spPr/>
        <p:txBody>
          <a:bodyPr/>
          <a:lstStyle/>
          <a:p>
            <a:fld id="{A213E615-A4FD-4AD5-AC7E-7E407E5AB79E}" type="datetimeFigureOut">
              <a:rPr lang="tr-TR" smtClean="0"/>
              <a:t>30.09.2024</a:t>
            </a:fld>
            <a:endParaRPr lang="tr-TR"/>
          </a:p>
        </p:txBody>
      </p:sp>
      <p:sp>
        <p:nvSpPr>
          <p:cNvPr id="6" name="Alt Bilgi Yer Tutucusu 5">
            <a:extLst>
              <a:ext uri="{FF2B5EF4-FFF2-40B4-BE49-F238E27FC236}">
                <a16:creationId xmlns:a16="http://schemas.microsoft.com/office/drawing/2014/main" id="{E2B4B932-750F-8B1E-B922-873A78756071}"/>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9387917C-3EE7-162E-5082-17B28726A793}"/>
              </a:ext>
            </a:extLst>
          </p:cNvPr>
          <p:cNvSpPr>
            <a:spLocks noGrp="1"/>
          </p:cNvSpPr>
          <p:nvPr>
            <p:ph type="sldNum" sz="quarter" idx="12"/>
          </p:nvPr>
        </p:nvSpPr>
        <p:spPr/>
        <p:txBody>
          <a:bodyPr/>
          <a:lstStyle/>
          <a:p>
            <a:fld id="{FFEC6CDE-569B-48F4-9A50-B0696A5F4244}" type="slidenum">
              <a:rPr lang="tr-TR" smtClean="0"/>
              <a:t>‹#›</a:t>
            </a:fld>
            <a:endParaRPr lang="tr-TR"/>
          </a:p>
        </p:txBody>
      </p:sp>
    </p:spTree>
    <p:extLst>
      <p:ext uri="{BB962C8B-B14F-4D97-AF65-F5344CB8AC3E}">
        <p14:creationId xmlns:p14="http://schemas.microsoft.com/office/powerpoint/2010/main" val="694988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5130FCA-3F06-415D-84F1-63BEAD31C448}"/>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9AB07EC1-A409-4F38-1802-ABDF3598D3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E2622B9E-738B-6A08-8B6D-5A8D23CA20B0}"/>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B78B38BD-DE4B-F9CD-31DB-FEEB4B3086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537618A5-E9A0-98E6-44DA-2874A3BBF67D}"/>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58B7BB30-8B12-36CB-C659-5BF2D34CBFAA}"/>
              </a:ext>
            </a:extLst>
          </p:cNvPr>
          <p:cNvSpPr>
            <a:spLocks noGrp="1"/>
          </p:cNvSpPr>
          <p:nvPr>
            <p:ph type="dt" sz="half" idx="10"/>
          </p:nvPr>
        </p:nvSpPr>
        <p:spPr/>
        <p:txBody>
          <a:bodyPr/>
          <a:lstStyle/>
          <a:p>
            <a:fld id="{A213E615-A4FD-4AD5-AC7E-7E407E5AB79E}" type="datetimeFigureOut">
              <a:rPr lang="tr-TR" smtClean="0"/>
              <a:t>30.09.2024</a:t>
            </a:fld>
            <a:endParaRPr lang="tr-TR"/>
          </a:p>
        </p:txBody>
      </p:sp>
      <p:sp>
        <p:nvSpPr>
          <p:cNvPr id="8" name="Alt Bilgi Yer Tutucusu 7">
            <a:extLst>
              <a:ext uri="{FF2B5EF4-FFF2-40B4-BE49-F238E27FC236}">
                <a16:creationId xmlns:a16="http://schemas.microsoft.com/office/drawing/2014/main" id="{A9975A66-682B-BD7B-BD37-B667B7F63991}"/>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4BFBCF82-337C-F5BD-A091-2D25446801D5}"/>
              </a:ext>
            </a:extLst>
          </p:cNvPr>
          <p:cNvSpPr>
            <a:spLocks noGrp="1"/>
          </p:cNvSpPr>
          <p:nvPr>
            <p:ph type="sldNum" sz="quarter" idx="12"/>
          </p:nvPr>
        </p:nvSpPr>
        <p:spPr/>
        <p:txBody>
          <a:bodyPr/>
          <a:lstStyle/>
          <a:p>
            <a:fld id="{FFEC6CDE-569B-48F4-9A50-B0696A5F4244}" type="slidenum">
              <a:rPr lang="tr-TR" smtClean="0"/>
              <a:t>‹#›</a:t>
            </a:fld>
            <a:endParaRPr lang="tr-TR"/>
          </a:p>
        </p:txBody>
      </p:sp>
    </p:spTree>
    <p:extLst>
      <p:ext uri="{BB962C8B-B14F-4D97-AF65-F5344CB8AC3E}">
        <p14:creationId xmlns:p14="http://schemas.microsoft.com/office/powerpoint/2010/main" val="633494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BB322F8-BA50-96E7-04C9-81DB6C16F8E1}"/>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1504CA6B-A5D6-6453-F2A1-63FD950E5987}"/>
              </a:ext>
            </a:extLst>
          </p:cNvPr>
          <p:cNvSpPr>
            <a:spLocks noGrp="1"/>
          </p:cNvSpPr>
          <p:nvPr>
            <p:ph type="dt" sz="half" idx="10"/>
          </p:nvPr>
        </p:nvSpPr>
        <p:spPr/>
        <p:txBody>
          <a:bodyPr/>
          <a:lstStyle/>
          <a:p>
            <a:fld id="{A213E615-A4FD-4AD5-AC7E-7E407E5AB79E}" type="datetimeFigureOut">
              <a:rPr lang="tr-TR" smtClean="0"/>
              <a:t>30.09.2024</a:t>
            </a:fld>
            <a:endParaRPr lang="tr-TR"/>
          </a:p>
        </p:txBody>
      </p:sp>
      <p:sp>
        <p:nvSpPr>
          <p:cNvPr id="4" name="Alt Bilgi Yer Tutucusu 3">
            <a:extLst>
              <a:ext uri="{FF2B5EF4-FFF2-40B4-BE49-F238E27FC236}">
                <a16:creationId xmlns:a16="http://schemas.microsoft.com/office/drawing/2014/main" id="{B58AF123-B646-2810-6E86-CB0651DCE740}"/>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01BC2C9A-FC0A-476B-5CF3-06C928B0C252}"/>
              </a:ext>
            </a:extLst>
          </p:cNvPr>
          <p:cNvSpPr>
            <a:spLocks noGrp="1"/>
          </p:cNvSpPr>
          <p:nvPr>
            <p:ph type="sldNum" sz="quarter" idx="12"/>
          </p:nvPr>
        </p:nvSpPr>
        <p:spPr/>
        <p:txBody>
          <a:bodyPr/>
          <a:lstStyle/>
          <a:p>
            <a:fld id="{FFEC6CDE-569B-48F4-9A50-B0696A5F4244}" type="slidenum">
              <a:rPr lang="tr-TR" smtClean="0"/>
              <a:t>‹#›</a:t>
            </a:fld>
            <a:endParaRPr lang="tr-TR"/>
          </a:p>
        </p:txBody>
      </p:sp>
    </p:spTree>
    <p:extLst>
      <p:ext uri="{BB962C8B-B14F-4D97-AF65-F5344CB8AC3E}">
        <p14:creationId xmlns:p14="http://schemas.microsoft.com/office/powerpoint/2010/main" val="31361499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2F95F01B-DE7D-2AE2-3504-206F2EDE5938}"/>
              </a:ext>
            </a:extLst>
          </p:cNvPr>
          <p:cNvSpPr>
            <a:spLocks noGrp="1"/>
          </p:cNvSpPr>
          <p:nvPr>
            <p:ph type="dt" sz="half" idx="10"/>
          </p:nvPr>
        </p:nvSpPr>
        <p:spPr/>
        <p:txBody>
          <a:bodyPr/>
          <a:lstStyle/>
          <a:p>
            <a:fld id="{A213E615-A4FD-4AD5-AC7E-7E407E5AB79E}" type="datetimeFigureOut">
              <a:rPr lang="tr-TR" smtClean="0"/>
              <a:t>30.09.2024</a:t>
            </a:fld>
            <a:endParaRPr lang="tr-TR"/>
          </a:p>
        </p:txBody>
      </p:sp>
      <p:sp>
        <p:nvSpPr>
          <p:cNvPr id="3" name="Alt Bilgi Yer Tutucusu 2">
            <a:extLst>
              <a:ext uri="{FF2B5EF4-FFF2-40B4-BE49-F238E27FC236}">
                <a16:creationId xmlns:a16="http://schemas.microsoft.com/office/drawing/2014/main" id="{86738C43-1A0E-40D3-5D50-AC1679D33BC7}"/>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240DB357-1FAD-C7B6-8415-67EF5B4E76A5}"/>
              </a:ext>
            </a:extLst>
          </p:cNvPr>
          <p:cNvSpPr>
            <a:spLocks noGrp="1"/>
          </p:cNvSpPr>
          <p:nvPr>
            <p:ph type="sldNum" sz="quarter" idx="12"/>
          </p:nvPr>
        </p:nvSpPr>
        <p:spPr/>
        <p:txBody>
          <a:bodyPr/>
          <a:lstStyle/>
          <a:p>
            <a:fld id="{FFEC6CDE-569B-48F4-9A50-B0696A5F4244}" type="slidenum">
              <a:rPr lang="tr-TR" smtClean="0"/>
              <a:t>‹#›</a:t>
            </a:fld>
            <a:endParaRPr lang="tr-TR"/>
          </a:p>
        </p:txBody>
      </p:sp>
    </p:spTree>
    <p:extLst>
      <p:ext uri="{BB962C8B-B14F-4D97-AF65-F5344CB8AC3E}">
        <p14:creationId xmlns:p14="http://schemas.microsoft.com/office/powerpoint/2010/main" val="979029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C3C09E3-5DA7-7A70-3058-709877423FF9}"/>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6A0D29C6-066D-4B75-123B-4CAE971D51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979B7805-9E6C-818E-3CE0-61DEB6D57F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5BA04DD5-8CD1-CA46-6564-8431B2ED0DB3}"/>
              </a:ext>
            </a:extLst>
          </p:cNvPr>
          <p:cNvSpPr>
            <a:spLocks noGrp="1"/>
          </p:cNvSpPr>
          <p:nvPr>
            <p:ph type="dt" sz="half" idx="10"/>
          </p:nvPr>
        </p:nvSpPr>
        <p:spPr/>
        <p:txBody>
          <a:bodyPr/>
          <a:lstStyle/>
          <a:p>
            <a:fld id="{A213E615-A4FD-4AD5-AC7E-7E407E5AB79E}" type="datetimeFigureOut">
              <a:rPr lang="tr-TR" smtClean="0"/>
              <a:t>30.09.2024</a:t>
            </a:fld>
            <a:endParaRPr lang="tr-TR"/>
          </a:p>
        </p:txBody>
      </p:sp>
      <p:sp>
        <p:nvSpPr>
          <p:cNvPr id="6" name="Alt Bilgi Yer Tutucusu 5">
            <a:extLst>
              <a:ext uri="{FF2B5EF4-FFF2-40B4-BE49-F238E27FC236}">
                <a16:creationId xmlns:a16="http://schemas.microsoft.com/office/drawing/2014/main" id="{F62532D9-21BB-5E16-4739-EA70FBE73BAF}"/>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5043062D-3245-7783-1243-998745B9B739}"/>
              </a:ext>
            </a:extLst>
          </p:cNvPr>
          <p:cNvSpPr>
            <a:spLocks noGrp="1"/>
          </p:cNvSpPr>
          <p:nvPr>
            <p:ph type="sldNum" sz="quarter" idx="12"/>
          </p:nvPr>
        </p:nvSpPr>
        <p:spPr/>
        <p:txBody>
          <a:bodyPr/>
          <a:lstStyle/>
          <a:p>
            <a:fld id="{FFEC6CDE-569B-48F4-9A50-B0696A5F4244}" type="slidenum">
              <a:rPr lang="tr-TR" smtClean="0"/>
              <a:t>‹#›</a:t>
            </a:fld>
            <a:endParaRPr lang="tr-TR"/>
          </a:p>
        </p:txBody>
      </p:sp>
    </p:spTree>
    <p:extLst>
      <p:ext uri="{BB962C8B-B14F-4D97-AF65-F5344CB8AC3E}">
        <p14:creationId xmlns:p14="http://schemas.microsoft.com/office/powerpoint/2010/main" val="1667088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A567713-126B-0692-90A6-4563B57B4C2F}"/>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97B460CB-E8C8-AE44-9D0A-0A63362D1E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46ADC9A9-D844-9FF6-71C3-98908331A8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1E22E7B7-E289-A14A-5793-54E0F472A82A}"/>
              </a:ext>
            </a:extLst>
          </p:cNvPr>
          <p:cNvSpPr>
            <a:spLocks noGrp="1"/>
          </p:cNvSpPr>
          <p:nvPr>
            <p:ph type="dt" sz="half" idx="10"/>
          </p:nvPr>
        </p:nvSpPr>
        <p:spPr/>
        <p:txBody>
          <a:bodyPr/>
          <a:lstStyle/>
          <a:p>
            <a:fld id="{A213E615-A4FD-4AD5-AC7E-7E407E5AB79E}" type="datetimeFigureOut">
              <a:rPr lang="tr-TR" smtClean="0"/>
              <a:t>30.09.2024</a:t>
            </a:fld>
            <a:endParaRPr lang="tr-TR"/>
          </a:p>
        </p:txBody>
      </p:sp>
      <p:sp>
        <p:nvSpPr>
          <p:cNvPr id="6" name="Alt Bilgi Yer Tutucusu 5">
            <a:extLst>
              <a:ext uri="{FF2B5EF4-FFF2-40B4-BE49-F238E27FC236}">
                <a16:creationId xmlns:a16="http://schemas.microsoft.com/office/drawing/2014/main" id="{3383C260-43E5-C062-CCA2-259812090E4F}"/>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16027A9F-3299-0BA2-9015-91C22AF5B43E}"/>
              </a:ext>
            </a:extLst>
          </p:cNvPr>
          <p:cNvSpPr>
            <a:spLocks noGrp="1"/>
          </p:cNvSpPr>
          <p:nvPr>
            <p:ph type="sldNum" sz="quarter" idx="12"/>
          </p:nvPr>
        </p:nvSpPr>
        <p:spPr/>
        <p:txBody>
          <a:bodyPr/>
          <a:lstStyle/>
          <a:p>
            <a:fld id="{FFEC6CDE-569B-48F4-9A50-B0696A5F4244}" type="slidenum">
              <a:rPr lang="tr-TR" smtClean="0"/>
              <a:t>‹#›</a:t>
            </a:fld>
            <a:endParaRPr lang="tr-TR"/>
          </a:p>
        </p:txBody>
      </p:sp>
    </p:spTree>
    <p:extLst>
      <p:ext uri="{BB962C8B-B14F-4D97-AF65-F5344CB8AC3E}">
        <p14:creationId xmlns:p14="http://schemas.microsoft.com/office/powerpoint/2010/main" val="202744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5AE7127-CDF8-FD8B-9752-A1C70B32E9E1}"/>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29A1E320-1459-F766-7BB2-75A117E66C0F}"/>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B8C10287-FE82-10E6-B4C5-4E4095CD3E40}"/>
              </a:ext>
            </a:extLst>
          </p:cNvPr>
          <p:cNvSpPr>
            <a:spLocks noGrp="1"/>
          </p:cNvSpPr>
          <p:nvPr>
            <p:ph type="dt" sz="half" idx="10"/>
          </p:nvPr>
        </p:nvSpPr>
        <p:spPr/>
        <p:txBody>
          <a:bodyPr/>
          <a:lstStyle/>
          <a:p>
            <a:fld id="{A213E615-A4FD-4AD5-AC7E-7E407E5AB79E}" type="datetimeFigureOut">
              <a:rPr lang="tr-TR" smtClean="0"/>
              <a:t>30.09.2024</a:t>
            </a:fld>
            <a:endParaRPr lang="tr-TR"/>
          </a:p>
        </p:txBody>
      </p:sp>
      <p:sp>
        <p:nvSpPr>
          <p:cNvPr id="5" name="Alt Bilgi Yer Tutucusu 4">
            <a:extLst>
              <a:ext uri="{FF2B5EF4-FFF2-40B4-BE49-F238E27FC236}">
                <a16:creationId xmlns:a16="http://schemas.microsoft.com/office/drawing/2014/main" id="{B8B6C118-E314-B5C7-6FA8-96992FAD0385}"/>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D02B1BB9-10EA-A518-0013-EC63019489B8}"/>
              </a:ext>
            </a:extLst>
          </p:cNvPr>
          <p:cNvSpPr>
            <a:spLocks noGrp="1"/>
          </p:cNvSpPr>
          <p:nvPr>
            <p:ph type="sldNum" sz="quarter" idx="12"/>
          </p:nvPr>
        </p:nvSpPr>
        <p:spPr/>
        <p:txBody>
          <a:bodyPr/>
          <a:lstStyle/>
          <a:p>
            <a:fld id="{FFEC6CDE-569B-48F4-9A50-B0696A5F4244}" type="slidenum">
              <a:rPr lang="tr-TR" smtClean="0"/>
              <a:t>‹#›</a:t>
            </a:fld>
            <a:endParaRPr lang="tr-TR"/>
          </a:p>
        </p:txBody>
      </p:sp>
    </p:spTree>
    <p:extLst>
      <p:ext uri="{BB962C8B-B14F-4D97-AF65-F5344CB8AC3E}">
        <p14:creationId xmlns:p14="http://schemas.microsoft.com/office/powerpoint/2010/main" val="952557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2DE2AD1C-B797-72DE-DCFB-C76E79AF24C1}"/>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F0261B02-EE69-2E41-4A70-DD6B6B818086}"/>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250D3E1D-3997-477C-1A82-48E2E67F2562}"/>
              </a:ext>
            </a:extLst>
          </p:cNvPr>
          <p:cNvSpPr>
            <a:spLocks noGrp="1"/>
          </p:cNvSpPr>
          <p:nvPr>
            <p:ph type="dt" sz="half" idx="10"/>
          </p:nvPr>
        </p:nvSpPr>
        <p:spPr/>
        <p:txBody>
          <a:bodyPr/>
          <a:lstStyle/>
          <a:p>
            <a:fld id="{A213E615-A4FD-4AD5-AC7E-7E407E5AB79E}" type="datetimeFigureOut">
              <a:rPr lang="tr-TR" smtClean="0"/>
              <a:t>30.09.2024</a:t>
            </a:fld>
            <a:endParaRPr lang="tr-TR"/>
          </a:p>
        </p:txBody>
      </p:sp>
      <p:sp>
        <p:nvSpPr>
          <p:cNvPr id="5" name="Alt Bilgi Yer Tutucusu 4">
            <a:extLst>
              <a:ext uri="{FF2B5EF4-FFF2-40B4-BE49-F238E27FC236}">
                <a16:creationId xmlns:a16="http://schemas.microsoft.com/office/drawing/2014/main" id="{52195BD2-F210-7A65-B9E1-FAC168B64B27}"/>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BA950198-6D62-49F5-6BDD-E06A377FFA1B}"/>
              </a:ext>
            </a:extLst>
          </p:cNvPr>
          <p:cNvSpPr>
            <a:spLocks noGrp="1"/>
          </p:cNvSpPr>
          <p:nvPr>
            <p:ph type="sldNum" sz="quarter" idx="12"/>
          </p:nvPr>
        </p:nvSpPr>
        <p:spPr/>
        <p:txBody>
          <a:bodyPr/>
          <a:lstStyle/>
          <a:p>
            <a:fld id="{FFEC6CDE-569B-48F4-9A50-B0696A5F4244}" type="slidenum">
              <a:rPr lang="tr-TR" smtClean="0"/>
              <a:t>‹#›</a:t>
            </a:fld>
            <a:endParaRPr lang="tr-TR"/>
          </a:p>
        </p:txBody>
      </p:sp>
    </p:spTree>
    <p:extLst>
      <p:ext uri="{BB962C8B-B14F-4D97-AF65-F5344CB8AC3E}">
        <p14:creationId xmlns:p14="http://schemas.microsoft.com/office/powerpoint/2010/main" val="981336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74C29871-AF6F-A491-541A-34A3BF9443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CCB8D791-C333-12EE-5F24-20E26F3A67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62B9D409-054E-F294-7003-D97118FD87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13E615-A4FD-4AD5-AC7E-7E407E5AB79E}" type="datetimeFigureOut">
              <a:rPr lang="tr-TR" smtClean="0"/>
              <a:t>30.09.2024</a:t>
            </a:fld>
            <a:endParaRPr lang="tr-TR"/>
          </a:p>
        </p:txBody>
      </p:sp>
      <p:sp>
        <p:nvSpPr>
          <p:cNvPr id="5" name="Alt Bilgi Yer Tutucusu 4">
            <a:extLst>
              <a:ext uri="{FF2B5EF4-FFF2-40B4-BE49-F238E27FC236}">
                <a16:creationId xmlns:a16="http://schemas.microsoft.com/office/drawing/2014/main" id="{D610A667-69A1-F375-E657-70F49448B0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a:extLst>
              <a:ext uri="{FF2B5EF4-FFF2-40B4-BE49-F238E27FC236}">
                <a16:creationId xmlns:a16="http://schemas.microsoft.com/office/drawing/2014/main" id="{F70645B7-303D-9924-E564-163E8BD8D1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EC6CDE-569B-48F4-9A50-B0696A5F4244}" type="slidenum">
              <a:rPr lang="tr-TR" smtClean="0"/>
              <a:t>‹#›</a:t>
            </a:fld>
            <a:endParaRPr lang="tr-TR"/>
          </a:p>
        </p:txBody>
      </p:sp>
    </p:spTree>
    <p:extLst>
      <p:ext uri="{BB962C8B-B14F-4D97-AF65-F5344CB8AC3E}">
        <p14:creationId xmlns:p14="http://schemas.microsoft.com/office/powerpoint/2010/main" val="7689917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F682756-01DC-9217-77D3-E4B7544234D2}"/>
              </a:ext>
            </a:extLst>
          </p:cNvPr>
          <p:cNvSpPr>
            <a:spLocks noGrp="1"/>
          </p:cNvSpPr>
          <p:nvPr>
            <p:ph type="ctrTitle"/>
          </p:nvPr>
        </p:nvSpPr>
        <p:spPr/>
        <p:txBody>
          <a:bodyPr/>
          <a:lstStyle/>
          <a:p>
            <a:pPr algn="l"/>
            <a:r>
              <a:rPr lang="tr-TR" sz="1800" dirty="0">
                <a:effectLst/>
                <a:latin typeface="Times New Roman" panose="02020603050405020304" pitchFamily="18" charset="0"/>
                <a:ea typeface="Calibri" panose="020F0502020204030204" pitchFamily="34" charset="0"/>
              </a:rPr>
              <a:t>İnsana konuşma yeteneği verildi ve konuşma, evrenin ölçüsü olan düşünceyi yarattı.</a:t>
            </a:r>
            <a:br>
              <a:rPr lang="tr-TR" sz="1800" dirty="0">
                <a:effectLst/>
                <a:latin typeface="Times New Roman" panose="02020603050405020304" pitchFamily="18" charset="0"/>
                <a:ea typeface="Calibri" panose="020F0502020204030204" pitchFamily="34" charset="0"/>
              </a:rPr>
            </a:br>
            <a:br>
              <a:rPr lang="tr-TR" sz="1800" dirty="0">
                <a:effectLst/>
                <a:latin typeface="Times New Roman" panose="02020603050405020304" pitchFamily="18" charset="0"/>
                <a:ea typeface="Calibri" panose="020F0502020204030204" pitchFamily="34" charset="0"/>
              </a:rPr>
            </a:br>
            <a:r>
              <a:rPr lang="tr-TR" sz="1800" dirty="0">
                <a:effectLst/>
                <a:latin typeface="Times New Roman" panose="02020603050405020304" pitchFamily="18" charset="0"/>
                <a:ea typeface="Calibri" panose="020F0502020204030204" pitchFamily="34" charset="0"/>
              </a:rPr>
              <a:t>" İnsanlar, toplumları için ifade aracı haline gelmiş belirli bir dilin çokça merhametine bağlıdırlar. </a:t>
            </a:r>
            <a:br>
              <a:rPr lang="tr-TR" sz="1800" dirty="0">
                <a:effectLst/>
                <a:latin typeface="Times New Roman" panose="02020603050405020304" pitchFamily="18" charset="0"/>
                <a:ea typeface="Calibri" panose="020F0502020204030204" pitchFamily="34" charset="0"/>
              </a:rPr>
            </a:br>
            <a:br>
              <a:rPr lang="tr-TR" sz="1800" dirty="0">
                <a:effectLst/>
                <a:latin typeface="Times New Roman" panose="02020603050405020304" pitchFamily="18" charset="0"/>
                <a:ea typeface="Calibri" panose="020F0502020204030204" pitchFamily="34" charset="0"/>
              </a:rPr>
            </a:br>
            <a:r>
              <a:rPr lang="tr-TR" sz="1800" dirty="0">
                <a:effectLst/>
                <a:latin typeface="Times New Roman" panose="02020603050405020304" pitchFamily="18" charset="0"/>
                <a:ea typeface="Calibri" panose="020F0502020204030204" pitchFamily="34" charset="0"/>
              </a:rPr>
              <a:t>Gerçekliğe esasen dil kullanmaksızın uyum sağladığımız ve dilin sadece belirli iletişim ve yansıma problemlerini çözmenin yanı sıra bir araç olduğu düşüncesi tamamen bir yanılsamadır. </a:t>
            </a:r>
            <a:br>
              <a:rPr lang="tr-TR" sz="1800" dirty="0">
                <a:effectLst/>
                <a:latin typeface="Times New Roman" panose="02020603050405020304" pitchFamily="18" charset="0"/>
                <a:ea typeface="Calibri" panose="020F0502020204030204" pitchFamily="34" charset="0"/>
              </a:rPr>
            </a:br>
            <a:br>
              <a:rPr lang="tr-TR" sz="1800" dirty="0">
                <a:effectLst/>
                <a:latin typeface="Times New Roman" panose="02020603050405020304" pitchFamily="18" charset="0"/>
                <a:ea typeface="Calibri" panose="020F0502020204030204" pitchFamily="34" charset="0"/>
              </a:rPr>
            </a:br>
            <a:r>
              <a:rPr lang="tr-TR" sz="1800" dirty="0">
                <a:effectLst/>
                <a:latin typeface="Times New Roman" panose="02020603050405020304" pitchFamily="18" charset="0"/>
                <a:ea typeface="Calibri" panose="020F0502020204030204" pitchFamily="34" charset="0"/>
              </a:rPr>
              <a:t>Aslında, "gerçek dünya" büyük ölçüde grubun dil alışkanlıkları üzerine bilinçsizce inşa edilir. </a:t>
            </a:r>
            <a:endParaRPr lang="tr-TR" dirty="0"/>
          </a:p>
        </p:txBody>
      </p:sp>
    </p:spTree>
    <p:extLst>
      <p:ext uri="{BB962C8B-B14F-4D97-AF65-F5344CB8AC3E}">
        <p14:creationId xmlns:p14="http://schemas.microsoft.com/office/powerpoint/2010/main" val="3829256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5EC504C-2D1D-1D0C-4F4E-C7AE8ADB0643}"/>
              </a:ext>
            </a:extLst>
          </p:cNvPr>
          <p:cNvSpPr>
            <a:spLocks noGrp="1"/>
          </p:cNvSpPr>
          <p:nvPr>
            <p:ph type="ctrTitle"/>
          </p:nvPr>
        </p:nvSpPr>
        <p:spPr/>
        <p:txBody>
          <a:bodyPr/>
          <a:lstStyle/>
          <a:p>
            <a:r>
              <a:rPr lang="tr-TR" sz="1800" b="1" kern="100" dirty="0">
                <a:effectLst/>
                <a:latin typeface="Times New Roman" panose="02020603050405020304" pitchFamily="18" charset="0"/>
                <a:ea typeface="Calibri" panose="020F0502020204030204" pitchFamily="34" charset="0"/>
                <a:cs typeface="Times New Roman" panose="02020603050405020304" pitchFamily="18" charset="0"/>
              </a:rPr>
              <a:t>Nesnelere Giriş</a:t>
            </a:r>
            <a:endParaRPr lang="tr-TR" dirty="0"/>
          </a:p>
        </p:txBody>
      </p:sp>
      <p:sp>
        <p:nvSpPr>
          <p:cNvPr id="3" name="Alt Başlık 2">
            <a:extLst>
              <a:ext uri="{FF2B5EF4-FFF2-40B4-BE49-F238E27FC236}">
                <a16:creationId xmlns:a16="http://schemas.microsoft.com/office/drawing/2014/main" id="{6F37070C-C55C-1799-110D-48101757C9FD}"/>
              </a:ext>
            </a:extLst>
          </p:cNvPr>
          <p:cNvSpPr>
            <a:spLocks noGrp="1"/>
          </p:cNvSpPr>
          <p:nvPr>
            <p:ph type="subTitle" idx="1"/>
          </p:nvPr>
        </p:nvSpPr>
        <p:spPr/>
        <p:txBody>
          <a:bodyPr/>
          <a:lstStyle/>
          <a:p>
            <a:r>
              <a:rPr lang="tr-TR" sz="1800" dirty="0">
                <a:effectLst/>
                <a:latin typeface="Times New Roman" panose="02020603050405020304" pitchFamily="18" charset="0"/>
                <a:ea typeface="Calibri" panose="020F0502020204030204" pitchFamily="34" charset="0"/>
              </a:rPr>
              <a:t>Doğayı parçalara ayırırız, kavramlar halinde organize ederiz ve belirli anlamlar atfederiz, büyük ölçüde konuşma topluluğumuz arasında var olan ve dilimizin kalıplarında kodlanmış bir anlaşmaya taraf olduğumuz için... anlaşmanın emrettiği veri organizasyonuna ve sınıflandırmasına abone olmadan hiç konuşamayız."</a:t>
            </a:r>
            <a:endParaRPr lang="tr-TR" dirty="0"/>
          </a:p>
        </p:txBody>
      </p:sp>
    </p:spTree>
    <p:extLst>
      <p:ext uri="{BB962C8B-B14F-4D97-AF65-F5344CB8AC3E}">
        <p14:creationId xmlns:p14="http://schemas.microsoft.com/office/powerpoint/2010/main" val="524225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856CC3D-DAF6-ABBD-0067-A913C740F9A9}"/>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5F1F2B54-DA37-EDBB-DEEC-54B85CDA3D7B}"/>
              </a:ext>
            </a:extLst>
          </p:cNvPr>
          <p:cNvSpPr>
            <a:spLocks noGrp="1"/>
          </p:cNvSpPr>
          <p:nvPr>
            <p:ph idx="1"/>
          </p:nvPr>
        </p:nvSpPr>
        <p:spPr/>
        <p:txBody>
          <a:bodyPr/>
          <a:lstStyle/>
          <a:p>
            <a:pPr marL="0" indent="0">
              <a:buNone/>
            </a:pPr>
            <a:endParaRPr lang="tr-TR" dirty="0"/>
          </a:p>
        </p:txBody>
      </p:sp>
      <p:sp>
        <p:nvSpPr>
          <p:cNvPr id="5" name="Metin kutusu 4">
            <a:extLst>
              <a:ext uri="{FF2B5EF4-FFF2-40B4-BE49-F238E27FC236}">
                <a16:creationId xmlns:a16="http://schemas.microsoft.com/office/drawing/2014/main" id="{E52729E9-F164-CF76-E7A6-46FD0C7853B5}"/>
              </a:ext>
            </a:extLst>
          </p:cNvPr>
          <p:cNvSpPr txBox="1"/>
          <p:nvPr/>
        </p:nvSpPr>
        <p:spPr>
          <a:xfrm>
            <a:off x="1367073" y="3108012"/>
            <a:ext cx="8664167" cy="1754326"/>
          </a:xfrm>
          <a:prstGeom prst="rect">
            <a:avLst/>
          </a:prstGeom>
          <a:noFill/>
        </p:spPr>
        <p:txBody>
          <a:bodyPr wrap="square">
            <a:spAutoFit/>
          </a:bodyPr>
          <a:lstStyle/>
          <a:p>
            <a:r>
              <a:rPr lang="tr-TR" sz="1800" dirty="0">
                <a:effectLst/>
                <a:latin typeface="Times New Roman" panose="02020603050405020304" pitchFamily="18" charset="0"/>
                <a:ea typeface="Calibri" panose="020F0502020204030204" pitchFamily="34" charset="0"/>
              </a:rPr>
              <a:t>Nesne yönelimli programlama (OOP), bilgisayarı bir ifade ortamı olarak kullanma yönündeki bu hareketin bir parçasıdır.</a:t>
            </a:r>
          </a:p>
          <a:p>
            <a:endParaRPr lang="tr-TR" dirty="0">
              <a:latin typeface="Times New Roman" panose="02020603050405020304" pitchFamily="18" charset="0"/>
            </a:endParaRPr>
          </a:p>
          <a:p>
            <a:r>
              <a:rPr lang="tr-TR" sz="1800" dirty="0">
                <a:effectLst/>
                <a:latin typeface="Times New Roman" panose="02020603050405020304" pitchFamily="18" charset="0"/>
                <a:ea typeface="Calibri" panose="020F0502020204030204" pitchFamily="34" charset="0"/>
              </a:rPr>
              <a:t>Birçok kişi, büyük resmi öncelikle anlamadan nesne yönelimli programlamaya giriş yapmak konusunda rahat hissetmez. Bu nedenle, </a:t>
            </a:r>
            <a:r>
              <a:rPr lang="tr-TR" sz="1800" dirty="0" err="1">
                <a:effectLst/>
                <a:latin typeface="Times New Roman" panose="02020603050405020304" pitchFamily="18" charset="0"/>
                <a:ea typeface="Calibri" panose="020F0502020204030204" pitchFamily="34" charset="0"/>
              </a:rPr>
              <a:t>OOP'ye</a:t>
            </a:r>
            <a:r>
              <a:rPr lang="tr-TR" sz="1800" dirty="0">
                <a:effectLst/>
                <a:latin typeface="Times New Roman" panose="02020603050405020304" pitchFamily="18" charset="0"/>
                <a:ea typeface="Calibri" panose="020F0502020204030204" pitchFamily="34" charset="0"/>
              </a:rPr>
              <a:t> sağlam bir genel bakış sağlamak için burada birçok kavram tanıtılıyor.</a:t>
            </a:r>
            <a:endParaRPr lang="tr-TR" dirty="0"/>
          </a:p>
        </p:txBody>
      </p:sp>
    </p:spTree>
    <p:extLst>
      <p:ext uri="{BB962C8B-B14F-4D97-AF65-F5344CB8AC3E}">
        <p14:creationId xmlns:p14="http://schemas.microsoft.com/office/powerpoint/2010/main" val="2454845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36306FC-0DC8-7E01-A0AD-A48242BA6B4A}"/>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FA4E97B8-2EC0-4ABF-2DAA-66B2C9302DF9}"/>
              </a:ext>
            </a:extLst>
          </p:cNvPr>
          <p:cNvSpPr>
            <a:spLocks noGrp="1"/>
          </p:cNvSpPr>
          <p:nvPr>
            <p:ph idx="1"/>
          </p:nvPr>
        </p:nvSpPr>
        <p:spPr/>
        <p:txBody>
          <a:bodyPr/>
          <a:lstStyle/>
          <a:p>
            <a:r>
              <a:rPr lang="tr-TR" sz="1800" dirty="0">
                <a:effectLst/>
                <a:latin typeface="Times New Roman" panose="02020603050405020304" pitchFamily="18" charset="0"/>
                <a:ea typeface="Calibri" panose="020F0502020204030204" pitchFamily="34" charset="0"/>
              </a:rPr>
              <a:t>Assembly dili, temel makinenin küçük bir soyutlamasıdır. İzleyen birçok “zorunlu” dil (FORTRAN, BASIC ve C gibi) </a:t>
            </a:r>
            <a:r>
              <a:rPr lang="tr-TR" sz="1800" dirty="0" err="1">
                <a:effectLst/>
                <a:latin typeface="Times New Roman" panose="02020603050405020304" pitchFamily="18" charset="0"/>
                <a:ea typeface="Calibri" panose="020F0502020204030204" pitchFamily="34" charset="0"/>
              </a:rPr>
              <a:t>assembly</a:t>
            </a:r>
            <a:r>
              <a:rPr lang="tr-TR" sz="1800" dirty="0">
                <a:effectLst/>
                <a:latin typeface="Times New Roman" panose="02020603050405020304" pitchFamily="18" charset="0"/>
                <a:ea typeface="Calibri" panose="020F0502020204030204" pitchFamily="34" charset="0"/>
              </a:rPr>
              <a:t> dilinin soyutlamalarıydı. Bu diller, </a:t>
            </a:r>
            <a:r>
              <a:rPr lang="tr-TR" sz="1800" dirty="0" err="1">
                <a:effectLst/>
                <a:latin typeface="Times New Roman" panose="02020603050405020304" pitchFamily="18" charset="0"/>
                <a:ea typeface="Calibri" panose="020F0502020204030204" pitchFamily="34" charset="0"/>
              </a:rPr>
              <a:t>assembly</a:t>
            </a:r>
            <a:r>
              <a:rPr lang="tr-TR" sz="1800" dirty="0">
                <a:effectLst/>
                <a:latin typeface="Times New Roman" panose="02020603050405020304" pitchFamily="18" charset="0"/>
                <a:ea typeface="Calibri" panose="020F0502020204030204" pitchFamily="34" charset="0"/>
              </a:rPr>
              <a:t> diline göre büyük iyileştirmeler olmasına rağmen, temel soyutlamaları hala bilgisayarın yapısını düşünmenizi gerektiriyor, çözmeye çalıştığınız sorunun yapısından ziyade. Programcının, çözümün uygulandığı yer olan “çözüm alanındaki” makine modeli ile aslında çözülen sorunun modeli arasında bir ilişki kurması gerekir (örneğin, bir işletme gibi sorunun var olduğu yer olan “sorun alanı”). Bu eşleştirmeyi gerçekleştirmek için gereken çaba ve bunun programlama diline dışsal olması, yazılması zor ve bakımı pahalı programlar üretir ve yan etki olarak tüm “programlama yöntemleri” endüstrisini yaratır.</a:t>
            </a:r>
            <a:endParaRPr lang="tr-TR" dirty="0"/>
          </a:p>
        </p:txBody>
      </p:sp>
    </p:spTree>
    <p:extLst>
      <p:ext uri="{BB962C8B-B14F-4D97-AF65-F5344CB8AC3E}">
        <p14:creationId xmlns:p14="http://schemas.microsoft.com/office/powerpoint/2010/main" val="3008873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BC187C2-98F3-E4D4-5519-0D3436F6C571}"/>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2D19565F-A48A-616D-2CD3-8B3E269D5BB3}"/>
              </a:ext>
            </a:extLst>
          </p:cNvPr>
          <p:cNvSpPr>
            <a:spLocks noGrp="1"/>
          </p:cNvSpPr>
          <p:nvPr>
            <p:ph idx="1"/>
          </p:nvPr>
        </p:nvSpPr>
        <p:spPr/>
        <p:txBody>
          <a:bodyPr/>
          <a:lstStyle/>
          <a:p>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Makineyi modellemenin alternatifi, çözmeye çalıştığınız sorunu modellemektir. LISP ve APL gibi erken diller, dünyanın belirli görüşlerini seçti (“Tüm sorunlar sonunda listelerdir” veya “Tüm sorunlar algoritmiktir”). Prolog, tüm sorunları karar zincirlerine döker. Kısıtlama tabanlı programlama için ve yalnızca grafik sembollerle manipüle ederek programlama için diller oluşturulmuştur. (İkincisi çok kısıtlayıcı olduğunu kanıtladı.) Bu yaklaşımların her biri, çözmeye tasarlandıkları belirli sorun sınıfı için iyi bir çözüm olabilir, ancak bu alanın dışına çıktığınızda garip hale gelirler.</a:t>
            </a:r>
            <a:endParaRPr lang="tr-TR"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tr-TR" dirty="0"/>
          </a:p>
        </p:txBody>
      </p:sp>
    </p:spTree>
    <p:extLst>
      <p:ext uri="{BB962C8B-B14F-4D97-AF65-F5344CB8AC3E}">
        <p14:creationId xmlns:p14="http://schemas.microsoft.com/office/powerpoint/2010/main" val="2577733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BB23289-2E1C-14AA-64F5-1E516F4D77C7}"/>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3874AD08-BF13-72FC-3C4D-F9F92836AADB}"/>
              </a:ext>
            </a:extLst>
          </p:cNvPr>
          <p:cNvSpPr>
            <a:spLocks noGrp="1"/>
          </p:cNvSpPr>
          <p:nvPr>
            <p:ph idx="1"/>
          </p:nvPr>
        </p:nvSpPr>
        <p:spPr/>
        <p:txBody>
          <a:bodyPr/>
          <a:lstStyle/>
          <a:p>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Nesne yönelimli yaklaşım, programcının sorun alanındaki öğeleri temsil etmek için araçlar sağlayarak bir adım daha ileri gider. Bu temsil, programcının herhangi bir belirli türdeki soruna kısıtlanmadığı kadar geneldir. Sorun alanındaki öğelere ve çözüm alanındaki temsillerine “nesneler” olarak atıfta bulunuyoruz. (Sorun alanı analogları olmayan diğer nesnelere de ihtiyacınız olacak.) Fikir şu ki, program, çözümü açıklayan kodu okuduğunuzda, sorunu da ifade eden kelimeleri okuyorsunuz, böylece yeni türde nesneler ekleyerek sorunun </a:t>
            </a:r>
            <a:r>
              <a:rPr lang="tr-TR" sz="1800" kern="100" dirty="0" err="1">
                <a:effectLst/>
                <a:latin typeface="Times New Roman" panose="02020603050405020304" pitchFamily="18" charset="0"/>
                <a:ea typeface="Calibri" panose="020F0502020204030204" pitchFamily="34" charset="0"/>
                <a:cs typeface="Times New Roman" panose="02020603050405020304" pitchFamily="18" charset="0"/>
              </a:rPr>
              <a:t>lingo'suna</a:t>
            </a:r>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 kendini uyarlamasına izin verilir. Bu, daha önce sahip olduğumuzdan daha esnek ve güçlü bir dil soyutlamasıdır.1 Böylece, OOP, sorunu çözümün çalıştırılacağı bilgisayarın şartları yerine, sorunun şartları açısından tanımlamanıza olanak tanır. Bilgisayara geri dönüş bağlantısı hala var: Her nesne küçük bir bilgisayara oldukça benziyor - bir durumu var ve gerçekleştirmesini isteyebileceğiniz işlemleri var. Ancak, bu, gerçek dünyadaki nesnelere o kadar da kötü bir benzetme gibi görünmüyor - hepsinin karakteristikleri ve davranışları var.</a:t>
            </a:r>
            <a:endParaRPr lang="tr-TR"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tr-TR" dirty="0"/>
          </a:p>
        </p:txBody>
      </p:sp>
    </p:spTree>
    <p:extLst>
      <p:ext uri="{BB962C8B-B14F-4D97-AF65-F5344CB8AC3E}">
        <p14:creationId xmlns:p14="http://schemas.microsoft.com/office/powerpoint/2010/main" val="2557479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CE56550-AEB6-19B6-BE7C-2653C31C7B8D}"/>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012F8805-B58A-7109-0125-B0A0CE9B1F56}"/>
              </a:ext>
            </a:extLst>
          </p:cNvPr>
          <p:cNvSpPr>
            <a:spLocks noGrp="1"/>
          </p:cNvSpPr>
          <p:nvPr>
            <p:ph idx="1"/>
          </p:nvPr>
        </p:nvSpPr>
        <p:spPr/>
        <p:txBody>
          <a:bodyPr/>
          <a:lstStyle/>
          <a:p>
            <a:r>
              <a:rPr lang="tr-TR" sz="1800" b="1" kern="100" dirty="0">
                <a:effectLst/>
                <a:latin typeface="Times New Roman" panose="02020603050405020304" pitchFamily="18" charset="0"/>
                <a:ea typeface="Calibri" panose="020F0502020204030204" pitchFamily="34" charset="0"/>
                <a:cs typeface="Times New Roman" panose="02020603050405020304" pitchFamily="18" charset="0"/>
              </a:rPr>
              <a:t>1.</a:t>
            </a:r>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 Her şey bir nesnedir. Bir nesneyi süslü bir değişken olarak düşünün; veri depolar, ancak bu nesneye “taleplerde bulunabilir”, kendisi üzerinde işlemler gerçekleştirmesini isteyebilirsiniz. Teorik olarak, çözmeye çalıştığınız problemin herhangi bir kavramsal bileşenini (köpekler, binalar, hizmetler vb.) programınızda bir nesne olarak temsil edebilirsiniz.</a:t>
            </a:r>
            <a:endParaRPr lang="tr-TR"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tr-TR" dirty="0"/>
          </a:p>
        </p:txBody>
      </p:sp>
    </p:spTree>
    <p:extLst>
      <p:ext uri="{BB962C8B-B14F-4D97-AF65-F5344CB8AC3E}">
        <p14:creationId xmlns:p14="http://schemas.microsoft.com/office/powerpoint/2010/main" val="3150524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C634615-EEBE-6CFE-E344-BBCB9B2C0FD3}"/>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A2183E23-5506-61BA-4792-4146DB6BF8DB}"/>
              </a:ext>
            </a:extLst>
          </p:cNvPr>
          <p:cNvSpPr>
            <a:spLocks noGrp="1"/>
          </p:cNvSpPr>
          <p:nvPr>
            <p:ph idx="1"/>
          </p:nvPr>
        </p:nvSpPr>
        <p:spPr/>
        <p:txBody>
          <a:bodyPr/>
          <a:lstStyle/>
          <a:p>
            <a:r>
              <a:rPr lang="tr-TR" sz="1800" b="1" kern="100" dirty="0">
                <a:effectLst/>
                <a:latin typeface="Times New Roman" panose="02020603050405020304" pitchFamily="18" charset="0"/>
                <a:ea typeface="Calibri" panose="020F0502020204030204" pitchFamily="34" charset="0"/>
                <a:cs typeface="Times New Roman" panose="02020603050405020304" pitchFamily="18" charset="0"/>
              </a:rPr>
              <a:t>2.</a:t>
            </a:r>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 Bir program, nesnelerin birbirlerine ne yapacaklarını söyleyerek mesajlar gönderdiği bir sürü nesnedir. Bir nesneye talepte bulunmak için, o nesneye “bir mesaj gönderirsiniz”. Daha somut bir şekilde, bir mesajı, belirli bir nesneye ait bir yöntemi çağırma isteği olarak düşünebilirsiniz.</a:t>
            </a:r>
            <a:endParaRPr lang="tr-TR"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tr-TR" dirty="0"/>
          </a:p>
          <a:p>
            <a:r>
              <a:rPr lang="tr-TR" sz="1800" b="1" kern="100" dirty="0">
                <a:effectLst/>
                <a:latin typeface="Times New Roman" panose="02020603050405020304" pitchFamily="18" charset="0"/>
                <a:ea typeface="Calibri" panose="020F0502020204030204" pitchFamily="34" charset="0"/>
                <a:cs typeface="Times New Roman" panose="02020603050405020304" pitchFamily="18" charset="0"/>
              </a:rPr>
              <a:t>3.</a:t>
            </a:r>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 Her nesnenin, diğer nesnelerden oluşan kendi hafızası vardır. Başka bir deyişle, mevcut nesneleri içeren bir paket yaparak yeni bir tür nesne oluşturursunuz. Böylece, bir programın karmaşıklığını nesnelerin basitliği arkasına saklayarak inşa edebilirsiniz.</a:t>
            </a:r>
            <a:endParaRPr lang="tr-TR"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tr-TR" dirty="0"/>
          </a:p>
          <a:p>
            <a:r>
              <a:rPr lang="tr-TR" sz="1800" b="1" kern="100" dirty="0">
                <a:effectLst/>
                <a:latin typeface="Times New Roman" panose="02020603050405020304" pitchFamily="18" charset="0"/>
                <a:ea typeface="Calibri" panose="020F0502020204030204" pitchFamily="34" charset="0"/>
                <a:cs typeface="Times New Roman" panose="02020603050405020304" pitchFamily="18" charset="0"/>
              </a:rPr>
              <a:t>4.</a:t>
            </a:r>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 Her nesnenin bir türü vardır. Deyimi kullanarak, her nesne bir sınıfın örneğidir, burada “sınıf” “tür” ile eşanlamlıdır. Bir sınıfın en önemli ayırt edici özelliği “Ona hangi mesajları gönderebilirsiniz?” </a:t>
            </a:r>
            <a:r>
              <a:rPr lang="tr-TR" sz="1800" kern="100" dirty="0" err="1">
                <a:effectLst/>
                <a:latin typeface="Times New Roman" panose="02020603050405020304" pitchFamily="18" charset="0"/>
                <a:ea typeface="Calibri" panose="020F0502020204030204" pitchFamily="34" charset="0"/>
                <a:cs typeface="Times New Roman" panose="02020603050405020304" pitchFamily="18" charset="0"/>
              </a:rPr>
              <a:t>dir</a:t>
            </a:r>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tr-TR"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tr-TR" dirty="0"/>
          </a:p>
        </p:txBody>
      </p:sp>
    </p:spTree>
    <p:extLst>
      <p:ext uri="{BB962C8B-B14F-4D97-AF65-F5344CB8AC3E}">
        <p14:creationId xmlns:p14="http://schemas.microsoft.com/office/powerpoint/2010/main" val="530927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825AF72-74C4-A878-628A-8BA36CA3A5D7}"/>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EF993336-9CFB-E0B9-AC41-19FA4D2011F6}"/>
              </a:ext>
            </a:extLst>
          </p:cNvPr>
          <p:cNvSpPr>
            <a:spLocks noGrp="1"/>
          </p:cNvSpPr>
          <p:nvPr>
            <p:ph idx="1"/>
          </p:nvPr>
        </p:nvSpPr>
        <p:spPr/>
        <p:txBody>
          <a:bodyPr/>
          <a:lstStyle/>
          <a:p>
            <a:r>
              <a:rPr lang="tr-TR" sz="1800" b="1" kern="100" dirty="0">
                <a:effectLst/>
                <a:latin typeface="Times New Roman" panose="02020603050405020304" pitchFamily="18" charset="0"/>
                <a:ea typeface="Calibri" panose="020F0502020204030204" pitchFamily="34" charset="0"/>
                <a:cs typeface="Times New Roman" panose="02020603050405020304" pitchFamily="18" charset="0"/>
              </a:rPr>
              <a:t>5.</a:t>
            </a:r>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 Belirli bir türdeki tüm nesneler aynı mesajları alabilir. Bu aslında daha sonra göreceğiniz gibi yüklü bir ifadedir. “daire” türünde bir nesne aynı zamanda “şekil” türünde bir nesne olduğu için, bir daire şekil mesajlarını kabul etmeyi garanti eder. Bu, şekillerle konuşan kod yazabileceğiniz ve otomatik olarak bir şeklin tanımına uyan her şeyi ele alabileceğiniz anlamına gelir. Bu yer değiştirme, </a:t>
            </a:r>
            <a:r>
              <a:rPr lang="tr-TR" sz="1800" kern="100" dirty="0" err="1">
                <a:effectLst/>
                <a:latin typeface="Times New Roman" panose="02020603050405020304" pitchFamily="18" charset="0"/>
                <a:ea typeface="Calibri" panose="020F0502020204030204" pitchFamily="34" charset="0"/>
                <a:cs typeface="Times New Roman" panose="02020603050405020304" pitchFamily="18" charset="0"/>
              </a:rPr>
              <a:t>OOP'deki</a:t>
            </a:r>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 güçlü kavramlardan biridir.</a:t>
            </a:r>
            <a:endParaRPr lang="tr-TR"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tr-TR" dirty="0"/>
          </a:p>
        </p:txBody>
      </p:sp>
    </p:spTree>
    <p:extLst>
      <p:ext uri="{BB962C8B-B14F-4D97-AF65-F5344CB8AC3E}">
        <p14:creationId xmlns:p14="http://schemas.microsoft.com/office/powerpoint/2010/main" val="763626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090B4AC-2A83-7E7B-634D-910062A1661F}"/>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534CB664-77C2-F0B2-FCB7-2EFFF1C4E4DF}"/>
              </a:ext>
            </a:extLst>
          </p:cNvPr>
          <p:cNvSpPr>
            <a:spLocks noGrp="1"/>
          </p:cNvSpPr>
          <p:nvPr>
            <p:ph idx="1"/>
          </p:nvPr>
        </p:nvSpPr>
        <p:spPr/>
        <p:txBody>
          <a:bodyPr>
            <a:normAutofit lnSpcReduction="10000"/>
          </a:bodyPr>
          <a:lstStyle/>
          <a:p>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Nesneye yönelik programlama (OOP) paradigması, yazılımın nasıl düşünüldüğü ve yapılandırıldığı konusunda devrim yaratan bir yaklaşım sunar. Bu bölümde belirtilen konseptler, </a:t>
            </a:r>
            <a:r>
              <a:rPr lang="tr-TR" sz="1800" kern="100" dirty="0" err="1">
                <a:effectLst/>
                <a:latin typeface="Times New Roman" panose="02020603050405020304" pitchFamily="18" charset="0"/>
                <a:ea typeface="Calibri" panose="020F0502020204030204" pitchFamily="34" charset="0"/>
                <a:cs typeface="Times New Roman" panose="02020603050405020304" pitchFamily="18" charset="0"/>
              </a:rPr>
              <a:t>OOP'nin</a:t>
            </a:r>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 temelini oluşturan unsurlardır ve yazılım tasarımı ve geliştirmesindeki kararları derinden etkiler.</a:t>
            </a:r>
            <a:endParaRPr lang="tr-TR"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tr-TR" dirty="0"/>
          </a:p>
          <a:p>
            <a:pPr algn="just">
              <a:lnSpc>
                <a:spcPct val="107000"/>
              </a:lnSpc>
              <a:spcAft>
                <a:spcPts val="800"/>
              </a:spcAft>
            </a:pPr>
            <a:r>
              <a:rPr lang="tr-TR" sz="1800" b="1" kern="100" dirty="0">
                <a:effectLst/>
                <a:latin typeface="Times New Roman" panose="02020603050405020304" pitchFamily="18" charset="0"/>
                <a:ea typeface="Calibri" panose="020F0502020204030204" pitchFamily="34" charset="0"/>
                <a:cs typeface="Times New Roman" panose="02020603050405020304" pitchFamily="18" charset="0"/>
              </a:rPr>
              <a:t>1. **Nesnenin Arayüzü Var**:</a:t>
            </a:r>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 Her nesnenin bir "arayüzü" vardır, yani dış dünya ile etkileşimde bulunmak için kullandığı yöntemler ve özellikler seti. Arayüz, nesnenin nasıl kullanılacağını belirtir ancak iç yapısını (kapsülleme yoluyla gizlenmiş) açığa çıkarmaz. Bu, nesneler arası etkileşimi düzenler ve belirli bir uygulama için gerekli işlevselliği sağlayan sınıfların tanımlanmasına olanak tanır.</a:t>
            </a:r>
            <a:endParaRPr lang="tr-TR"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tr-TR"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tr-TR" sz="1800" b="1" kern="100" dirty="0">
                <a:effectLst/>
                <a:latin typeface="Times New Roman" panose="02020603050405020304" pitchFamily="18" charset="0"/>
                <a:ea typeface="Calibri" panose="020F0502020204030204" pitchFamily="34" charset="0"/>
                <a:cs typeface="Times New Roman" panose="02020603050405020304" pitchFamily="18" charset="0"/>
              </a:rPr>
              <a:t>2. **Sınıf ve Tür Kavramları**:</a:t>
            </a:r>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 Aristotle'nin türlerin sınıflandırılması üzerine yaptığı erken çalışmalar, Simula-67 gibi ilk nesne yönelimli dillerde doğrudan kullanılmıştır. Bir "sınıf", benzer özellikler ve davranışlar paylaşan nesnelerin bir gruplandırmasıdır; bu nedenle, bir sınıf aslında bir veri türüdür. Yüzer noktalı bir sayı gibi, belirli özelliklere (veri) ve davranışlara (fonksiyonlar) sahiptir.</a:t>
            </a:r>
            <a:endParaRPr lang="tr-TR"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tr-TR" dirty="0"/>
          </a:p>
        </p:txBody>
      </p:sp>
    </p:spTree>
    <p:extLst>
      <p:ext uri="{BB962C8B-B14F-4D97-AF65-F5344CB8AC3E}">
        <p14:creationId xmlns:p14="http://schemas.microsoft.com/office/powerpoint/2010/main" val="30239507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EF05409-BD6D-8150-67E0-8E68526FA49F}"/>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22860B5A-D456-960C-86CC-DEBEF1D7426A}"/>
              </a:ext>
            </a:extLst>
          </p:cNvPr>
          <p:cNvSpPr>
            <a:spLocks noGrp="1"/>
          </p:cNvSpPr>
          <p:nvPr>
            <p:ph idx="1"/>
          </p:nvPr>
        </p:nvSpPr>
        <p:spPr/>
        <p:txBody>
          <a:bodyPr/>
          <a:lstStyle/>
          <a:p>
            <a:pPr algn="just">
              <a:lnSpc>
                <a:spcPct val="107000"/>
              </a:lnSpc>
              <a:spcAft>
                <a:spcPts val="800"/>
              </a:spcAft>
            </a:pPr>
            <a:r>
              <a:rPr lang="tr-TR" sz="1800" b="1" kern="100" dirty="0">
                <a:effectLst/>
                <a:latin typeface="Times New Roman" panose="02020603050405020304" pitchFamily="18" charset="0"/>
                <a:ea typeface="Calibri" panose="020F0502020204030204" pitchFamily="34" charset="0"/>
                <a:cs typeface="Times New Roman" panose="02020603050405020304" pitchFamily="18" charset="0"/>
              </a:rPr>
              <a:t>3. **</a:t>
            </a:r>
            <a:r>
              <a:rPr lang="tr-TR" sz="1800" b="1" kern="100" dirty="0" err="1">
                <a:effectLst/>
                <a:latin typeface="Times New Roman" panose="02020603050405020304" pitchFamily="18" charset="0"/>
                <a:ea typeface="Calibri" panose="020F0502020204030204" pitchFamily="34" charset="0"/>
                <a:cs typeface="Times New Roman" panose="02020603050405020304" pitchFamily="18" charset="0"/>
              </a:rPr>
              <a:t>Abstract</a:t>
            </a:r>
            <a:r>
              <a:rPr lang="tr-TR" sz="1800" b="1" kern="100" dirty="0">
                <a:effectLst/>
                <a:latin typeface="Times New Roman" panose="02020603050405020304" pitchFamily="18" charset="0"/>
                <a:ea typeface="Calibri" panose="020F0502020204030204" pitchFamily="34" charset="0"/>
                <a:cs typeface="Times New Roman" panose="02020603050405020304" pitchFamily="18" charset="0"/>
              </a:rPr>
              <a:t> Data </a:t>
            </a:r>
            <a:r>
              <a:rPr lang="tr-TR" sz="1800" b="1" kern="100" dirty="0" err="1">
                <a:effectLst/>
                <a:latin typeface="Times New Roman" panose="02020603050405020304" pitchFamily="18" charset="0"/>
                <a:ea typeface="Calibri" panose="020F0502020204030204" pitchFamily="34" charset="0"/>
                <a:cs typeface="Times New Roman" panose="02020603050405020304" pitchFamily="18" charset="0"/>
              </a:rPr>
              <a:t>Types</a:t>
            </a:r>
            <a:r>
              <a:rPr lang="tr-TR" sz="1800" b="1" kern="100" dirty="0">
                <a:effectLst/>
                <a:latin typeface="Times New Roman" panose="02020603050405020304" pitchFamily="18" charset="0"/>
                <a:ea typeface="Calibri" panose="020F0502020204030204" pitchFamily="34" charset="0"/>
                <a:cs typeface="Times New Roman" panose="02020603050405020304" pitchFamily="18" charset="0"/>
              </a:rPr>
              <a:t> ve Sınıflar**:</a:t>
            </a:r>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tr-TR" sz="1800" kern="100" dirty="0" err="1">
                <a:effectLst/>
                <a:latin typeface="Times New Roman" panose="02020603050405020304" pitchFamily="18" charset="0"/>
                <a:ea typeface="Calibri" panose="020F0502020204030204" pitchFamily="34" charset="0"/>
                <a:cs typeface="Times New Roman" panose="02020603050405020304" pitchFamily="18" charset="0"/>
              </a:rPr>
              <a:t>OOP'de</a:t>
            </a:r>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 yeni veri türleri yaratırız, bu genellikle "</a:t>
            </a:r>
            <a:r>
              <a:rPr lang="tr-TR" sz="1800" kern="100" dirty="0" err="1">
                <a:effectLst/>
                <a:latin typeface="Times New Roman" panose="02020603050405020304" pitchFamily="18" charset="0"/>
                <a:ea typeface="Calibri" panose="020F0502020204030204" pitchFamily="34" charset="0"/>
                <a:cs typeface="Times New Roman" panose="02020603050405020304" pitchFamily="18" charset="0"/>
              </a:rPr>
              <a:t>abstract</a:t>
            </a:r>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 data </a:t>
            </a:r>
            <a:r>
              <a:rPr lang="tr-TR" sz="1800" kern="100" dirty="0" err="1">
                <a:effectLst/>
                <a:latin typeface="Times New Roman" panose="02020603050405020304" pitchFamily="18" charset="0"/>
                <a:ea typeface="Calibri" panose="020F0502020204030204" pitchFamily="34" charset="0"/>
                <a:cs typeface="Times New Roman" panose="02020603050405020304" pitchFamily="18" charset="0"/>
              </a:rPr>
              <a:t>types</a:t>
            </a:r>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 veya sınıflar yoluyla yapılır. Bu sınıflar, tıpkı yerleşik türler gibi çalışır; nesneler (veya örnekler) oluşturabilir ve bu nesneler üzerinde işlemler gerçekleştirebilirsiniz. Her sınıfın üyeleri ortak özellikleri paylaşır, ancak her birinin kendi benzersiz durumu vardır.</a:t>
            </a:r>
            <a:endParaRPr lang="tr-TR"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tr-TR"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tr-TR" sz="1800" b="1" kern="100" dirty="0">
                <a:effectLst/>
                <a:latin typeface="Times New Roman" panose="02020603050405020304" pitchFamily="18" charset="0"/>
                <a:ea typeface="Calibri" panose="020F0502020204030204" pitchFamily="34" charset="0"/>
                <a:cs typeface="Times New Roman" panose="02020603050405020304" pitchFamily="18" charset="0"/>
              </a:rPr>
              <a:t>4. **Sınıfların Dil Uzantısı Olarak Kullanımı**:</a:t>
            </a:r>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 Programcılar, bir problemi çözmek için bir sınıfı tanımlarlar, bu da onların mevcut bir veri türünü kullanmaya zorlanmaları yerine, programlama dilini kendi ihtiyaçlarına özgü yeni veri türleri ekleyerek genişletmelerine olanak tanır. Programlama sistemi, yeni sınıfları memnuniyetle karşılar ve yerleşik türlere verdiği özeni ve tip kontrolünü sağlar.</a:t>
            </a:r>
            <a:endParaRPr lang="tr-TR"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tr-TR" dirty="0"/>
          </a:p>
        </p:txBody>
      </p:sp>
    </p:spTree>
    <p:extLst>
      <p:ext uri="{BB962C8B-B14F-4D97-AF65-F5344CB8AC3E}">
        <p14:creationId xmlns:p14="http://schemas.microsoft.com/office/powerpoint/2010/main" val="2967533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292FEFB-2B0C-D4F4-C6A6-D02362879BA7}"/>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88FF8F0C-3F9E-6930-E45C-D25C829C0376}"/>
              </a:ext>
            </a:extLst>
          </p:cNvPr>
          <p:cNvSpPr>
            <a:spLocks noGrp="1"/>
          </p:cNvSpPr>
          <p:nvPr>
            <p:ph idx="1"/>
          </p:nvPr>
        </p:nvSpPr>
        <p:spPr/>
        <p:txBody>
          <a:bodyPr>
            <a:normAutofit fontScale="92500" lnSpcReduction="20000"/>
          </a:bodyPr>
          <a:lstStyle/>
          <a:p>
            <a:r>
              <a:rPr lang="tr-TR" sz="1800" b="1" kern="100" dirty="0">
                <a:effectLst/>
                <a:latin typeface="Times New Roman" panose="02020603050405020304" pitchFamily="18" charset="0"/>
                <a:ea typeface="Calibri" panose="020F0502020204030204" pitchFamily="34" charset="0"/>
                <a:cs typeface="Times New Roman" panose="02020603050405020304" pitchFamily="18" charset="0"/>
              </a:rPr>
              <a:t>5. **Nesnelerin Çok Yönlülüğü ve Kimlikleri**:</a:t>
            </a:r>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 Nesneler sadece bir bellek adresi ile tanımlanmaz. Farklı makinelerde, farklı adres alanlarında var olabilirler veya diske kaydedilebilirler. Bu durumlarda, bir nesnenin kimliği, bellek adresinden başka bir şey tarafından belirlenmelidir.</a:t>
            </a:r>
            <a:endParaRPr lang="tr-TR"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tr-TR" dirty="0"/>
          </a:p>
          <a:p>
            <a:pPr algn="just">
              <a:lnSpc>
                <a:spcPct val="107000"/>
              </a:lnSpc>
              <a:spcAft>
                <a:spcPts val="800"/>
              </a:spcAft>
            </a:pPr>
            <a:r>
              <a:rPr lang="tr-TR" sz="1800" b="1" kern="100" dirty="0">
                <a:effectLst/>
                <a:latin typeface="Times New Roman" panose="02020603050405020304" pitchFamily="18" charset="0"/>
                <a:ea typeface="Calibri" panose="020F0502020204030204" pitchFamily="34" charset="0"/>
                <a:cs typeface="Times New Roman" panose="02020603050405020304" pitchFamily="18" charset="0"/>
              </a:rPr>
              <a:t>6. **Sınıf ve Tür Arasındaki Ayrım**:</a:t>
            </a:r>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 Bazıları, '</a:t>
            </a:r>
            <a:r>
              <a:rPr lang="tr-TR" sz="1800" kern="100" dirty="0" err="1">
                <a:effectLst/>
                <a:latin typeface="Times New Roman" panose="02020603050405020304" pitchFamily="18" charset="0"/>
                <a:ea typeface="Calibri" panose="020F0502020204030204" pitchFamily="34" charset="0"/>
                <a:cs typeface="Times New Roman" panose="02020603050405020304" pitchFamily="18" charset="0"/>
              </a:rPr>
              <a:t>tür'ün</a:t>
            </a:r>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 arayüzü belirlediğini, '</a:t>
            </a:r>
            <a:r>
              <a:rPr lang="tr-TR" sz="1800" kern="100" dirty="0" err="1">
                <a:effectLst/>
                <a:latin typeface="Times New Roman" panose="02020603050405020304" pitchFamily="18" charset="0"/>
                <a:ea typeface="Calibri" panose="020F0502020204030204" pitchFamily="34" charset="0"/>
                <a:cs typeface="Times New Roman" panose="02020603050405020304" pitchFamily="18" charset="0"/>
              </a:rPr>
              <a:t>sınıf'ın</a:t>
            </a:r>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 ise o arayüzün belirli bir uygulaması olduğunu söyleyerek bir ayrım yapar. Bu, farklı sınıfların aynı arayüzü uygulayabileceği ve dolayısıyla farklı nesnelerin aynı mesajlara (metot çağrılarına) yanıt verebileceği anlamına gelir.</a:t>
            </a:r>
            <a:endParaRPr lang="tr-TR"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tr-TR" sz="1800" kern="100" dirty="0" err="1">
                <a:effectLst/>
                <a:latin typeface="Times New Roman" panose="02020603050405020304" pitchFamily="18" charset="0"/>
                <a:ea typeface="Calibri" panose="020F0502020204030204" pitchFamily="34" charset="0"/>
                <a:cs typeface="Times New Roman" panose="02020603050405020304" pitchFamily="18" charset="0"/>
              </a:rPr>
              <a:t>OOP'nin</a:t>
            </a:r>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 güzelliği, her türlü uygulama için kullanılabilir olmasıdır; sadece simülasyonlarla sınırlı değildir. OOP tekniklerini kullanarak, karmaşık problemler setini basit, yönetilebilir çözümlere indirgeyebiliriz. Bu, yazılım geliştirme sürecini daha esnek ve genişletilebilir hale getirir, çünkü yeni sınıflar ve nesneler eklemek, mevcut kod üzerinde önemli değişiklikler yapmadan yapılabilir.</a:t>
            </a:r>
            <a:endParaRPr lang="tr-TR"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Bir sınıf oluşturulduğunda, istediğiniz kadar çok nesne yapabilir ve sonra bu nesneleri çözmeye çalıştığınız problemde var olan öğelermiş gibi manipüle edebilirsiniz. Aslında, nesne yönelimli programlamanın zorluklarından biri, problem alanındaki öğeler ile çözüm alanındaki nesneler arasında bire bir eşleme oluşturmaktır.</a:t>
            </a:r>
            <a:endParaRPr lang="tr-TR"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tr-TR" dirty="0"/>
          </a:p>
        </p:txBody>
      </p:sp>
    </p:spTree>
    <p:extLst>
      <p:ext uri="{BB962C8B-B14F-4D97-AF65-F5344CB8AC3E}">
        <p14:creationId xmlns:p14="http://schemas.microsoft.com/office/powerpoint/2010/main" val="2392920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F33DFA6-30DA-9685-0F7F-035520CEFBDF}"/>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160E28DF-494C-B73B-5BDB-C2AE019C4A4A}"/>
              </a:ext>
            </a:extLst>
          </p:cNvPr>
          <p:cNvSpPr>
            <a:spLocks noGrp="1"/>
          </p:cNvSpPr>
          <p:nvPr>
            <p:ph idx="1"/>
          </p:nvPr>
        </p:nvSpPr>
        <p:spPr/>
        <p:txBody>
          <a:bodyPr/>
          <a:lstStyle/>
          <a:p>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Ancak, bir nesneyi sizin için faydalı bir iş yapmaya nasıl ikna edersiniz? Nesnenin bir şey yapması, örneğin bir işlemi tamamlaması, ekranda bir şey çizmesi veya bir anahtarı açması için bir istekte bulunmanın bir yolu olmalı. Ve her nesne sadece belirli istekleri karşılayabilir. Bir nesneye yapabileceğiniz istekler, onun arayüzü tarafından tanımlanır ve arayüzü belirleyen şey türdür. Basit bir örnek, bir ampulün temsili olabilir.</a:t>
            </a:r>
          </a:p>
          <a:p>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Arayüz, belirli bir nesne için yapabileceğiniz istekleri belirler. Ancak, bu isteği karşılamak için bir yerde kod olmalıdır. Bu, gizli verilerle birlikte uygulamayı içerir. Prosedürel programlama açısından, o kadar da karmaşık değil. Bir türün her olası istekle ilişkili bir yöntemi vardır ve bir nesneye belirli bir istek yaptığınızda bu yöntem çağrılır. Bu süreç genellikle bir nesneye “mesaj gönderdiğiniz” (bir istek yaptığınız) ve nesnenin o mesajla ne yapacağını bulduğu (kod yürütür) denilerek özetlenir.</a:t>
            </a:r>
            <a:endParaRPr lang="tr-TR"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tr-TR"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tr-TR" dirty="0"/>
          </a:p>
        </p:txBody>
      </p:sp>
      <p:pic>
        <p:nvPicPr>
          <p:cNvPr id="4" name="Resim 3">
            <a:extLst>
              <a:ext uri="{FF2B5EF4-FFF2-40B4-BE49-F238E27FC236}">
                <a16:creationId xmlns:a16="http://schemas.microsoft.com/office/drawing/2014/main" id="{C4011C8A-769D-80E9-B669-46F7B640A6A0}"/>
              </a:ext>
            </a:extLst>
          </p:cNvPr>
          <p:cNvPicPr>
            <a:picLocks noChangeAspect="1"/>
          </p:cNvPicPr>
          <p:nvPr/>
        </p:nvPicPr>
        <p:blipFill>
          <a:blip r:embed="rId2"/>
          <a:stretch>
            <a:fillRect/>
          </a:stretch>
        </p:blipFill>
        <p:spPr>
          <a:xfrm>
            <a:off x="3868239" y="4240349"/>
            <a:ext cx="3741420" cy="1808480"/>
          </a:xfrm>
          <a:prstGeom prst="rect">
            <a:avLst/>
          </a:prstGeom>
        </p:spPr>
      </p:pic>
    </p:spTree>
    <p:extLst>
      <p:ext uri="{BB962C8B-B14F-4D97-AF65-F5344CB8AC3E}">
        <p14:creationId xmlns:p14="http://schemas.microsoft.com/office/powerpoint/2010/main" val="3710273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43DB275-21C5-AC42-87F7-AC209CD9864F}"/>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ED237C4B-4797-CB2C-6E73-E5ABD1CABBD5}"/>
              </a:ext>
            </a:extLst>
          </p:cNvPr>
          <p:cNvSpPr>
            <a:spLocks noGrp="1"/>
          </p:cNvSpPr>
          <p:nvPr>
            <p:ph idx="1"/>
          </p:nvPr>
        </p:nvSpPr>
        <p:spPr/>
        <p:txBody>
          <a:bodyPr/>
          <a:lstStyle/>
          <a:p>
            <a:r>
              <a:rPr lang="tr-TR" sz="1800" b="1" kern="100" dirty="0">
                <a:effectLst/>
                <a:latin typeface="Times New Roman" panose="02020603050405020304" pitchFamily="18" charset="0"/>
                <a:ea typeface="Calibri" panose="020F0502020204030204" pitchFamily="34" charset="0"/>
                <a:cs typeface="Times New Roman" panose="02020603050405020304" pitchFamily="18" charset="0"/>
              </a:rPr>
              <a:t>Burada, türün/sınıfın adı </a:t>
            </a:r>
            <a:r>
              <a:rPr lang="tr-TR" sz="1800" b="1" kern="100" dirty="0" err="1">
                <a:effectLst/>
                <a:latin typeface="Times New Roman" panose="02020603050405020304" pitchFamily="18" charset="0"/>
                <a:ea typeface="Calibri" panose="020F0502020204030204" pitchFamily="34" charset="0"/>
                <a:cs typeface="Times New Roman" panose="02020603050405020304" pitchFamily="18" charset="0"/>
              </a:rPr>
              <a:t>Light'tır</a:t>
            </a:r>
            <a:r>
              <a:rPr lang="tr-TR" sz="1800" b="1" kern="100" dirty="0">
                <a:effectLst/>
                <a:latin typeface="Times New Roman" panose="02020603050405020304" pitchFamily="18" charset="0"/>
                <a:ea typeface="Calibri" panose="020F0502020204030204" pitchFamily="34" charset="0"/>
                <a:cs typeface="Times New Roman" panose="02020603050405020304" pitchFamily="18" charset="0"/>
              </a:rPr>
              <a:t>, bu belirli </a:t>
            </a:r>
            <a:r>
              <a:rPr lang="tr-TR" sz="1800" b="1" kern="100" dirty="0" err="1">
                <a:effectLst/>
                <a:latin typeface="Times New Roman" panose="02020603050405020304" pitchFamily="18" charset="0"/>
                <a:ea typeface="Calibri" panose="020F0502020204030204" pitchFamily="34" charset="0"/>
                <a:cs typeface="Times New Roman" panose="02020603050405020304" pitchFamily="18" charset="0"/>
              </a:rPr>
              <a:t>Light</a:t>
            </a:r>
            <a:r>
              <a:rPr lang="tr-TR" sz="1800" b="1" kern="100" dirty="0">
                <a:effectLst/>
                <a:latin typeface="Times New Roman" panose="02020603050405020304" pitchFamily="18" charset="0"/>
                <a:ea typeface="Calibri" panose="020F0502020204030204" pitchFamily="34" charset="0"/>
                <a:cs typeface="Times New Roman" panose="02020603050405020304" pitchFamily="18" charset="0"/>
              </a:rPr>
              <a:t> nesnesinin adı </a:t>
            </a:r>
            <a:r>
              <a:rPr lang="tr-TR" sz="1800" b="1" kern="100" dirty="0" err="1">
                <a:effectLst/>
                <a:latin typeface="Times New Roman" panose="02020603050405020304" pitchFamily="18" charset="0"/>
                <a:ea typeface="Calibri" panose="020F0502020204030204" pitchFamily="34" charset="0"/>
                <a:cs typeface="Times New Roman" panose="02020603050405020304" pitchFamily="18" charset="0"/>
              </a:rPr>
              <a:t>lt'dir</a:t>
            </a:r>
            <a:r>
              <a:rPr lang="tr-TR" sz="1800" b="1" kern="100" dirty="0">
                <a:effectLst/>
                <a:latin typeface="Times New Roman" panose="02020603050405020304" pitchFamily="18" charset="0"/>
                <a:ea typeface="Calibri" panose="020F0502020204030204" pitchFamily="34" charset="0"/>
                <a:cs typeface="Times New Roman" panose="02020603050405020304" pitchFamily="18" charset="0"/>
              </a:rPr>
              <a:t> ve bir </a:t>
            </a:r>
            <a:r>
              <a:rPr lang="tr-TR" sz="1800" b="1" kern="100" dirty="0" err="1">
                <a:effectLst/>
                <a:latin typeface="Times New Roman" panose="02020603050405020304" pitchFamily="18" charset="0"/>
                <a:ea typeface="Calibri" panose="020F0502020204030204" pitchFamily="34" charset="0"/>
                <a:cs typeface="Times New Roman" panose="02020603050405020304" pitchFamily="18" charset="0"/>
              </a:rPr>
              <a:t>Light</a:t>
            </a:r>
            <a:r>
              <a:rPr lang="tr-TR" sz="1800" b="1" kern="100" dirty="0">
                <a:effectLst/>
                <a:latin typeface="Times New Roman" panose="02020603050405020304" pitchFamily="18" charset="0"/>
                <a:ea typeface="Calibri" panose="020F0502020204030204" pitchFamily="34" charset="0"/>
                <a:cs typeface="Times New Roman" panose="02020603050405020304" pitchFamily="18" charset="0"/>
              </a:rPr>
              <a:t> nesnesinden yapabileceğiniz istekler onu açmak, kapatmak, daha parlak hale getirmek veya yapmaktır. karartıcı. Bu nesne için bir “referans” (</a:t>
            </a:r>
            <a:r>
              <a:rPr lang="tr-TR" sz="1800" b="1" kern="100" dirty="0" err="1">
                <a:effectLst/>
                <a:latin typeface="Times New Roman" panose="02020603050405020304" pitchFamily="18" charset="0"/>
                <a:ea typeface="Calibri" panose="020F0502020204030204" pitchFamily="34" charset="0"/>
                <a:cs typeface="Times New Roman" panose="02020603050405020304" pitchFamily="18" charset="0"/>
              </a:rPr>
              <a:t>lt</a:t>
            </a:r>
            <a:r>
              <a:rPr lang="tr-TR" sz="1800" b="1" kern="100" dirty="0">
                <a:effectLst/>
                <a:latin typeface="Times New Roman" panose="02020603050405020304" pitchFamily="18" charset="0"/>
                <a:ea typeface="Calibri" panose="020F0502020204030204" pitchFamily="34" charset="0"/>
                <a:cs typeface="Times New Roman" panose="02020603050405020304" pitchFamily="18" charset="0"/>
              </a:rPr>
              <a:t>) tanımlayarak ve o türden yeni bir nesne istemek için </a:t>
            </a:r>
            <a:r>
              <a:rPr lang="tr-TR" sz="1800" b="1" kern="100" dirty="0" err="1">
                <a:effectLst/>
                <a:latin typeface="Times New Roman" panose="02020603050405020304" pitchFamily="18" charset="0"/>
                <a:ea typeface="Calibri" panose="020F0502020204030204" pitchFamily="34" charset="0"/>
                <a:cs typeface="Times New Roman" panose="02020603050405020304" pitchFamily="18" charset="0"/>
              </a:rPr>
              <a:t>new</a:t>
            </a:r>
            <a:r>
              <a:rPr lang="tr-TR" sz="1800" b="1" kern="100" dirty="0">
                <a:effectLst/>
                <a:latin typeface="Times New Roman" panose="02020603050405020304" pitchFamily="18" charset="0"/>
                <a:ea typeface="Calibri" panose="020F0502020204030204" pitchFamily="34" charset="0"/>
                <a:cs typeface="Times New Roman" panose="02020603050405020304" pitchFamily="18" charset="0"/>
              </a:rPr>
              <a:t> öğesini çağırarak bir </a:t>
            </a:r>
            <a:r>
              <a:rPr lang="tr-TR" sz="1800" b="1" kern="100" dirty="0" err="1">
                <a:effectLst/>
                <a:latin typeface="Times New Roman" panose="02020603050405020304" pitchFamily="18" charset="0"/>
                <a:ea typeface="Calibri" panose="020F0502020204030204" pitchFamily="34" charset="0"/>
                <a:cs typeface="Times New Roman" panose="02020603050405020304" pitchFamily="18" charset="0"/>
              </a:rPr>
              <a:t>Light</a:t>
            </a:r>
            <a:r>
              <a:rPr lang="tr-TR" sz="1800" b="1" kern="100" dirty="0">
                <a:effectLst/>
                <a:latin typeface="Times New Roman" panose="02020603050405020304" pitchFamily="18" charset="0"/>
                <a:ea typeface="Calibri" panose="020F0502020204030204" pitchFamily="34" charset="0"/>
                <a:cs typeface="Times New Roman" panose="02020603050405020304" pitchFamily="18" charset="0"/>
              </a:rPr>
              <a:t> nesnesi yaratırsınız. Nesneye mesaj göndermek için nesnenin adını belirtir ve onu nokta (nokta) ile mesaj isteğine bağlarsınız. Önceden tanımlanmış bir sınıfın kullanıcısı açısından, nesnelerle programlamanın hemen hemen hepsi bu kadar. Yukarıdaki şema, Birleşik Modelleme Dilinin (UML) biçimini takip eder.</a:t>
            </a:r>
            <a:r>
              <a:rPr lang="tr-TR"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tr-TR" sz="1800" b="1" kern="100" dirty="0">
                <a:effectLst/>
                <a:latin typeface="Times New Roman" panose="02020603050405020304" pitchFamily="18" charset="0"/>
                <a:ea typeface="Calibri" panose="020F0502020204030204" pitchFamily="34" charset="0"/>
                <a:cs typeface="Times New Roman" panose="02020603050405020304" pitchFamily="18" charset="0"/>
              </a:rPr>
              <a:t>Her sınıf, kutunun üst kısmında tür adı, kutunun orta kısmında açıklamayı düşündüğünüz veri üyeleri ve yöntemler (bu nesneye ait işlevler, o nesneye gönderdiğiniz tüm mesajlar) kutunun alt kısmında. Genellikle, UML tasarım diyagramlarında yalnızca sınıfın adı ve genel yöntemler gösterilir, bu nedenle bu durumda olduğu gibi orta kısım gösterilmez. Yalnızca sınıf adıyla ilgileniyorsanız, alt bölümün de gösterilmesine gerek yoktur.</a:t>
            </a:r>
          </a:p>
          <a:p>
            <a:endParaRPr lang="tr-TR"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tr-TR" dirty="0"/>
          </a:p>
        </p:txBody>
      </p:sp>
      <p:pic>
        <p:nvPicPr>
          <p:cNvPr id="4" name="Resim 3">
            <a:extLst>
              <a:ext uri="{FF2B5EF4-FFF2-40B4-BE49-F238E27FC236}">
                <a16:creationId xmlns:a16="http://schemas.microsoft.com/office/drawing/2014/main" id="{77A4E0F7-120F-7C7C-9C3B-64A211CB4F7A}"/>
              </a:ext>
            </a:extLst>
          </p:cNvPr>
          <p:cNvPicPr>
            <a:picLocks noChangeAspect="1"/>
          </p:cNvPicPr>
          <p:nvPr/>
        </p:nvPicPr>
        <p:blipFill>
          <a:blip r:embed="rId2"/>
          <a:stretch>
            <a:fillRect/>
          </a:stretch>
        </p:blipFill>
        <p:spPr>
          <a:xfrm>
            <a:off x="4024993" y="4684395"/>
            <a:ext cx="3741420" cy="1808480"/>
          </a:xfrm>
          <a:prstGeom prst="rect">
            <a:avLst/>
          </a:prstGeom>
        </p:spPr>
      </p:pic>
    </p:spTree>
    <p:extLst>
      <p:ext uri="{BB962C8B-B14F-4D97-AF65-F5344CB8AC3E}">
        <p14:creationId xmlns:p14="http://schemas.microsoft.com/office/powerpoint/2010/main" val="1267349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9E08EE5-8BC8-FDC9-AD81-188B28F27117}"/>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069DB9F3-0DA5-9A23-C54A-0FAC6191149E}"/>
              </a:ext>
            </a:extLst>
          </p:cNvPr>
          <p:cNvSpPr>
            <a:spLocks noGrp="1"/>
          </p:cNvSpPr>
          <p:nvPr>
            <p:ph idx="1"/>
          </p:nvPr>
        </p:nvSpPr>
        <p:spPr/>
        <p:txBody>
          <a:bodyPr/>
          <a:lstStyle/>
          <a:p>
            <a:pPr>
              <a:lnSpc>
                <a:spcPct val="107000"/>
              </a:lnSpc>
              <a:spcAft>
                <a:spcPts val="800"/>
              </a:spcAft>
            </a:pPr>
            <a:r>
              <a:rPr lang="tr-TR" sz="1800" b="1" dirty="0">
                <a:solidFill>
                  <a:srgbClr val="20435C"/>
                </a:solidFill>
                <a:effectLst/>
                <a:latin typeface="DroidSans-Bold"/>
                <a:ea typeface="Calibri" panose="020F0502020204030204" pitchFamily="34" charset="0"/>
                <a:cs typeface="DroidSans-Bold"/>
              </a:rPr>
              <a:t>Sınıflar</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dirty="0">
                <a:effectLst/>
                <a:latin typeface="DroidSans"/>
                <a:ea typeface="Calibri" panose="020F0502020204030204" pitchFamily="34" charset="0"/>
                <a:cs typeface="DroidSans"/>
              </a:rPr>
              <a:t>Nesne tabanlı programlamanın temelinde, yukarıdaki giriş bölümünde de adını andığımız ‘sınıf’ (</a:t>
            </a:r>
            <a:r>
              <a:rPr lang="tr-TR" sz="1800" dirty="0" err="1">
                <a:effectLst/>
                <a:latin typeface="DroidSans-Slant_213"/>
                <a:ea typeface="Calibri" panose="020F0502020204030204" pitchFamily="34" charset="0"/>
                <a:cs typeface="DroidSans-Slant_213"/>
              </a:rPr>
              <a:t>class</a:t>
            </a:r>
            <a:r>
              <a:rPr lang="tr-TR" sz="1800" dirty="0">
                <a:effectLst/>
                <a:latin typeface="DroidSans"/>
                <a:ea typeface="Calibri" panose="020F0502020204030204" pitchFamily="34" charset="0"/>
                <a:cs typeface="DroidSans"/>
              </a:rPr>
              <a:t>) adlı bir kavram bulunur. sınıflar, nesne üretmemizi sağlayan veri tipleridir. İşte nesne tabanlı programlama, adından da anlaşılacağı gibi, nesneler (ve dolayısıyla sınıflar) temel alınarak gerçekleştirilen bir programlama faaliyetidir.</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dirty="0">
                <a:effectLst/>
                <a:latin typeface="DroidSans"/>
                <a:ea typeface="Calibri" panose="020F0502020204030204" pitchFamily="34" charset="0"/>
                <a:cs typeface="DroidSans"/>
              </a:rPr>
              <a:t>Bir kişi işe alındığında, o kişiye dair belli birtakım bilgileri bu </a:t>
            </a:r>
            <a:r>
              <a:rPr lang="tr-TR" sz="1800" dirty="0" err="1">
                <a:effectLst/>
                <a:latin typeface="DroidSans"/>
                <a:ea typeface="Calibri" panose="020F0502020204030204" pitchFamily="34" charset="0"/>
                <a:cs typeface="DroidSans"/>
              </a:rPr>
              <a:t>veritabanına</a:t>
            </a:r>
            <a:r>
              <a:rPr lang="tr-TR" sz="1800" dirty="0">
                <a:effectLst/>
                <a:latin typeface="DroidSans"/>
                <a:ea typeface="Calibri" panose="020F0502020204030204" pitchFamily="34" charset="0"/>
                <a:cs typeface="DroidSans"/>
              </a:rPr>
              <a:t> işliyorsunuz. Mesela işe alınan kişinin adı, soyadı, unvanı, maaşı ve buna benzer başka bilgiler.</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tr-TR" sz="1800" dirty="0" err="1">
                <a:solidFill>
                  <a:srgbClr val="007121"/>
                </a:solidFill>
                <a:effectLst/>
                <a:latin typeface="F31"/>
                <a:ea typeface="Calibri" panose="020F0502020204030204" pitchFamily="34" charset="0"/>
                <a:cs typeface="F31"/>
              </a:rPr>
              <a:t>class</a:t>
            </a:r>
            <a:r>
              <a:rPr lang="tr-TR" sz="1800" dirty="0">
                <a:solidFill>
                  <a:srgbClr val="007121"/>
                </a:solidFill>
                <a:effectLst/>
                <a:latin typeface="F31"/>
                <a:ea typeface="Calibri" panose="020F0502020204030204" pitchFamily="34" charset="0"/>
                <a:cs typeface="F31"/>
              </a:rPr>
              <a:t> </a:t>
            </a:r>
            <a:r>
              <a:rPr lang="tr-TR" sz="1800" dirty="0">
                <a:solidFill>
                  <a:srgbClr val="0D85B6"/>
                </a:solidFill>
                <a:effectLst/>
                <a:latin typeface="F31"/>
                <a:ea typeface="Calibri" panose="020F0502020204030204" pitchFamily="34" charset="0"/>
                <a:cs typeface="F31"/>
              </a:rPr>
              <a:t>Çalışan</a:t>
            </a:r>
            <a:r>
              <a:rPr lang="tr-TR" sz="1800" dirty="0">
                <a:solidFill>
                  <a:srgbClr val="000000"/>
                </a:solidFill>
                <a:effectLst/>
                <a:latin typeface="F31"/>
                <a:ea typeface="Calibri" panose="020F0502020204030204" pitchFamily="34" charset="0"/>
                <a:cs typeface="F31"/>
              </a:rPr>
              <a:t>:</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indent="0">
              <a:lnSpc>
                <a:spcPct val="107000"/>
              </a:lnSpc>
              <a:spcAft>
                <a:spcPts val="800"/>
              </a:spcAft>
              <a:buNone/>
            </a:pPr>
            <a:r>
              <a:rPr lang="tr-TR" sz="1800" dirty="0" err="1">
                <a:solidFill>
                  <a:srgbClr val="007121"/>
                </a:solidFill>
                <a:effectLst/>
                <a:latin typeface="F31"/>
                <a:ea typeface="Calibri" panose="020F0502020204030204" pitchFamily="34" charset="0"/>
                <a:cs typeface="F31"/>
              </a:rPr>
              <a:t>pass</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033742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270C5BF-8EE7-E4A0-FE1F-F53FFB3CDE6E}"/>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4C9BD0DA-9B0E-8368-4887-865E3D846A0F}"/>
              </a:ext>
            </a:extLst>
          </p:cNvPr>
          <p:cNvSpPr>
            <a:spLocks noGrp="1"/>
          </p:cNvSpPr>
          <p:nvPr>
            <p:ph idx="1"/>
          </p:nvPr>
        </p:nvSpPr>
        <p:spPr/>
        <p:txBody>
          <a:bodyPr/>
          <a:lstStyle/>
          <a:p>
            <a:pPr>
              <a:lnSpc>
                <a:spcPct val="107000"/>
              </a:lnSpc>
              <a:spcAft>
                <a:spcPts val="800"/>
              </a:spcAft>
            </a:pPr>
            <a:r>
              <a:rPr lang="tr-TR" sz="1800" dirty="0">
                <a:effectLst/>
                <a:latin typeface="DroidSans"/>
                <a:ea typeface="Calibri" panose="020F0502020204030204" pitchFamily="34" charset="0"/>
                <a:cs typeface="DroidSans"/>
              </a:rPr>
              <a:t>Yukarıdaki, boş bir sınıf tanımıdır. Hatırlarsanız fonksiyonları tanımlamak için </a:t>
            </a:r>
            <a:r>
              <a:rPr lang="tr-TR" sz="1800" dirty="0">
                <a:effectLst/>
                <a:latin typeface="DroidSans-Slant_213"/>
                <a:ea typeface="Calibri" panose="020F0502020204030204" pitchFamily="34" charset="0"/>
                <a:cs typeface="DroidSans-Slant_213"/>
              </a:rPr>
              <a:t>def </a:t>
            </a:r>
            <a:r>
              <a:rPr lang="tr-TR" sz="1800" dirty="0">
                <a:effectLst/>
                <a:latin typeface="DroidSans"/>
                <a:ea typeface="Calibri" panose="020F0502020204030204" pitchFamily="34" charset="0"/>
                <a:cs typeface="DroidSans"/>
              </a:rPr>
              <a:t>adlı bir ifadeden yararlanıyorduk. İşte sınıfları tanımlamak için de </a:t>
            </a:r>
            <a:r>
              <a:rPr lang="tr-TR" sz="1800" dirty="0" err="1">
                <a:effectLst/>
                <a:latin typeface="DroidSans-Slant_213"/>
                <a:ea typeface="Calibri" panose="020F0502020204030204" pitchFamily="34" charset="0"/>
                <a:cs typeface="DroidSans-Slant_213"/>
              </a:rPr>
              <a:t>class</a:t>
            </a:r>
            <a:r>
              <a:rPr lang="tr-TR" sz="1800" dirty="0">
                <a:effectLst/>
                <a:latin typeface="DroidSans-Slant_213"/>
                <a:ea typeface="Calibri" panose="020F0502020204030204" pitchFamily="34" charset="0"/>
                <a:cs typeface="DroidSans-Slant_213"/>
              </a:rPr>
              <a:t> </a:t>
            </a:r>
            <a:r>
              <a:rPr lang="tr-TR" sz="1800" dirty="0">
                <a:effectLst/>
                <a:latin typeface="DroidSans"/>
                <a:ea typeface="Calibri" panose="020F0502020204030204" pitchFamily="34" charset="0"/>
                <a:cs typeface="DroidSans"/>
              </a:rPr>
              <a:t>adlı bir ifadeden yararlanıyoruz. Bu ifadenin ardından gelen </a:t>
            </a:r>
            <a:r>
              <a:rPr lang="tr-TR" sz="1800" dirty="0">
                <a:effectLst/>
                <a:latin typeface="DroidSans-Slant_213"/>
                <a:ea typeface="Calibri" panose="020F0502020204030204" pitchFamily="34" charset="0"/>
                <a:cs typeface="DroidSans-Slant_213"/>
              </a:rPr>
              <a:t>Çalışan </a:t>
            </a:r>
            <a:r>
              <a:rPr lang="tr-TR" sz="1800" dirty="0">
                <a:effectLst/>
                <a:latin typeface="DroidSans"/>
                <a:ea typeface="Calibri" panose="020F0502020204030204" pitchFamily="34" charset="0"/>
                <a:cs typeface="DroidSans"/>
              </a:rPr>
              <a:t>kelimesi ise bu sınıfın adıdır.</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dirty="0">
                <a:effectLst/>
                <a:latin typeface="DroidSans"/>
                <a:ea typeface="Calibri" panose="020F0502020204030204" pitchFamily="34" charset="0"/>
                <a:cs typeface="DroidSans"/>
              </a:rPr>
              <a:t> </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dirty="0">
                <a:effectLst/>
                <a:latin typeface="DroidSans"/>
                <a:ea typeface="Calibri" panose="020F0502020204030204" pitchFamily="34" charset="0"/>
                <a:cs typeface="DroidSans"/>
              </a:rPr>
              <a:t>Eğer arzu ederseniz, yukarıdaki sınıfı şu şekilde de tanımlayabilirsiniz:</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dirty="0">
                <a:effectLst/>
                <a:latin typeface="DroidSans"/>
                <a:ea typeface="Calibri" panose="020F0502020204030204" pitchFamily="34" charset="0"/>
                <a:cs typeface="DroidSans"/>
              </a:rPr>
              <a:t> </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tr-TR" sz="1800" dirty="0" err="1">
                <a:solidFill>
                  <a:srgbClr val="007121"/>
                </a:solidFill>
                <a:effectLst/>
                <a:latin typeface="F31"/>
                <a:ea typeface="Calibri" panose="020F0502020204030204" pitchFamily="34" charset="0"/>
                <a:cs typeface="F31"/>
              </a:rPr>
              <a:t>class</a:t>
            </a:r>
            <a:r>
              <a:rPr lang="tr-TR" sz="1800" dirty="0">
                <a:solidFill>
                  <a:srgbClr val="007121"/>
                </a:solidFill>
                <a:effectLst/>
                <a:latin typeface="F31"/>
                <a:ea typeface="Calibri" panose="020F0502020204030204" pitchFamily="34" charset="0"/>
                <a:cs typeface="F31"/>
              </a:rPr>
              <a:t> </a:t>
            </a:r>
            <a:r>
              <a:rPr lang="tr-TR" sz="1800" dirty="0">
                <a:solidFill>
                  <a:srgbClr val="0D85B6"/>
                </a:solidFill>
                <a:effectLst/>
                <a:latin typeface="F31"/>
                <a:ea typeface="Calibri" panose="020F0502020204030204" pitchFamily="34" charset="0"/>
                <a:cs typeface="F31"/>
              </a:rPr>
              <a:t>Çalışan</a:t>
            </a:r>
            <a:r>
              <a:rPr lang="tr-TR" sz="1800" dirty="0">
                <a:solidFill>
                  <a:srgbClr val="000000"/>
                </a:solidFill>
                <a:effectLst/>
                <a:latin typeface="F31"/>
                <a:ea typeface="Calibri" panose="020F0502020204030204" pitchFamily="34" charset="0"/>
                <a:cs typeface="F31"/>
              </a:rPr>
              <a:t>():</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indent="0">
              <a:lnSpc>
                <a:spcPct val="107000"/>
              </a:lnSpc>
              <a:spcAft>
                <a:spcPts val="800"/>
              </a:spcAft>
              <a:buNone/>
            </a:pPr>
            <a:r>
              <a:rPr lang="tr-TR" sz="1800" dirty="0" err="1">
                <a:solidFill>
                  <a:srgbClr val="007121"/>
                </a:solidFill>
                <a:effectLst/>
                <a:latin typeface="F31"/>
                <a:ea typeface="Calibri" panose="020F0502020204030204" pitchFamily="34" charset="0"/>
                <a:cs typeface="F31"/>
              </a:rPr>
              <a:t>pass</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r>
              <a:rPr lang="tr-TR" sz="1800" dirty="0">
                <a:effectLst/>
                <a:latin typeface="DroidSans"/>
                <a:ea typeface="Calibri" panose="020F0502020204030204" pitchFamily="34" charset="0"/>
                <a:cs typeface="DroidSans"/>
              </a:rPr>
              <a:t>fonksiyonlarda olduğu gibi, bir sınıfı kullanabilmek için de öncelikle o sınıfı tanımlamamız gerekiyor</a:t>
            </a:r>
            <a:endParaRPr lang="tr-TR" dirty="0"/>
          </a:p>
        </p:txBody>
      </p:sp>
    </p:spTree>
    <p:extLst>
      <p:ext uri="{BB962C8B-B14F-4D97-AF65-F5344CB8AC3E}">
        <p14:creationId xmlns:p14="http://schemas.microsoft.com/office/powerpoint/2010/main" val="10125321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EC863D4-0E5C-3AB5-F404-9C3EC8F6CCD5}"/>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F2AB2B58-CF54-572B-E552-6C9959A6FBD0}"/>
              </a:ext>
            </a:extLst>
          </p:cNvPr>
          <p:cNvSpPr>
            <a:spLocks noGrp="1"/>
          </p:cNvSpPr>
          <p:nvPr>
            <p:ph idx="1"/>
          </p:nvPr>
        </p:nvSpPr>
        <p:spPr/>
        <p:txBody>
          <a:bodyPr/>
          <a:lstStyle/>
          <a:p>
            <a:pPr>
              <a:lnSpc>
                <a:spcPct val="107000"/>
              </a:lnSpc>
              <a:spcAft>
                <a:spcPts val="800"/>
              </a:spcAft>
            </a:pPr>
            <a:r>
              <a:rPr lang="tr-TR" sz="1800" b="1" dirty="0">
                <a:solidFill>
                  <a:srgbClr val="20435C"/>
                </a:solidFill>
                <a:effectLst/>
                <a:latin typeface="DroidSans-Bold"/>
                <a:ea typeface="Calibri" panose="020F0502020204030204" pitchFamily="34" charset="0"/>
                <a:cs typeface="DroidSans-Bold"/>
              </a:rPr>
              <a:t>Sınıf Nitelikleri</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dirty="0" err="1">
                <a:solidFill>
                  <a:srgbClr val="007121"/>
                </a:solidFill>
                <a:effectLst/>
                <a:latin typeface="F31"/>
                <a:ea typeface="Calibri" panose="020F0502020204030204" pitchFamily="34" charset="0"/>
                <a:cs typeface="F31"/>
              </a:rPr>
              <a:t>class</a:t>
            </a:r>
            <a:r>
              <a:rPr lang="tr-TR" sz="1800" dirty="0">
                <a:solidFill>
                  <a:srgbClr val="007121"/>
                </a:solidFill>
                <a:effectLst/>
                <a:latin typeface="F31"/>
                <a:ea typeface="Calibri" panose="020F0502020204030204" pitchFamily="34" charset="0"/>
                <a:cs typeface="F31"/>
              </a:rPr>
              <a:t> </a:t>
            </a:r>
            <a:r>
              <a:rPr lang="tr-TR" sz="1800" dirty="0">
                <a:solidFill>
                  <a:srgbClr val="0D85B6"/>
                </a:solidFill>
                <a:effectLst/>
                <a:latin typeface="F31"/>
                <a:ea typeface="Calibri" panose="020F0502020204030204" pitchFamily="34" charset="0"/>
                <a:cs typeface="F31"/>
              </a:rPr>
              <a:t>Çalışan</a:t>
            </a:r>
            <a:r>
              <a:rPr lang="tr-TR" sz="1800" dirty="0">
                <a:solidFill>
                  <a:srgbClr val="000000"/>
                </a:solidFill>
                <a:effectLst/>
                <a:latin typeface="F31"/>
                <a:ea typeface="Calibri" panose="020F0502020204030204" pitchFamily="34" charset="0"/>
                <a:cs typeface="F31"/>
              </a:rPr>
              <a:t>():</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indent="449580">
              <a:lnSpc>
                <a:spcPct val="107000"/>
              </a:lnSpc>
              <a:spcAft>
                <a:spcPts val="800"/>
              </a:spcAft>
            </a:pPr>
            <a:r>
              <a:rPr lang="tr-TR" sz="1800" dirty="0">
                <a:solidFill>
                  <a:srgbClr val="000000"/>
                </a:solidFill>
                <a:effectLst/>
                <a:latin typeface="F31"/>
                <a:ea typeface="Calibri" panose="020F0502020204030204" pitchFamily="34" charset="0"/>
                <a:cs typeface="F31"/>
              </a:rPr>
              <a:t>kabiliyetleri </a:t>
            </a:r>
            <a:r>
              <a:rPr lang="tr-TR" sz="1800" dirty="0">
                <a:solidFill>
                  <a:srgbClr val="666666"/>
                </a:solidFill>
                <a:effectLst/>
                <a:latin typeface="F31"/>
                <a:ea typeface="Calibri" panose="020F0502020204030204" pitchFamily="34" charset="0"/>
                <a:cs typeface="F31"/>
              </a:rPr>
              <a:t>= </a:t>
            </a:r>
            <a:r>
              <a:rPr lang="tr-TR" sz="1800" dirty="0">
                <a:solidFill>
                  <a:srgbClr val="000000"/>
                </a:solidFill>
                <a:effectLst/>
                <a:latin typeface="F31"/>
                <a:ea typeface="Calibri" panose="020F0502020204030204" pitchFamily="34" charset="0"/>
                <a:cs typeface="F31"/>
              </a:rPr>
              <a:t>[]</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indent="449580">
              <a:lnSpc>
                <a:spcPct val="107000"/>
              </a:lnSpc>
              <a:spcAft>
                <a:spcPts val="800"/>
              </a:spcAft>
            </a:pPr>
            <a:r>
              <a:rPr lang="tr-TR" sz="1800" dirty="0">
                <a:solidFill>
                  <a:srgbClr val="000000"/>
                </a:solidFill>
                <a:effectLst/>
                <a:latin typeface="F31"/>
                <a:ea typeface="Calibri" panose="020F0502020204030204" pitchFamily="34" charset="0"/>
                <a:cs typeface="F31"/>
              </a:rPr>
              <a:t>unvanı </a:t>
            </a:r>
            <a:r>
              <a:rPr lang="tr-TR" sz="1800" dirty="0">
                <a:solidFill>
                  <a:srgbClr val="666666"/>
                </a:solidFill>
                <a:effectLst/>
                <a:latin typeface="F31"/>
                <a:ea typeface="Calibri" panose="020F0502020204030204" pitchFamily="34" charset="0"/>
                <a:cs typeface="F31"/>
              </a:rPr>
              <a:t>= </a:t>
            </a:r>
            <a:r>
              <a:rPr lang="tr-TR" sz="1800" dirty="0">
                <a:solidFill>
                  <a:srgbClr val="4071A1"/>
                </a:solidFill>
                <a:effectLst/>
                <a:latin typeface="F106"/>
                <a:ea typeface="Calibri" panose="020F0502020204030204" pitchFamily="34" charset="0"/>
                <a:cs typeface="F106"/>
              </a:rPr>
              <a:t>'</a:t>
            </a:r>
            <a:r>
              <a:rPr lang="tr-TR" sz="1800" dirty="0">
                <a:solidFill>
                  <a:srgbClr val="4071A1"/>
                </a:solidFill>
                <a:effectLst/>
                <a:latin typeface="F31"/>
                <a:ea typeface="Calibri" panose="020F0502020204030204" pitchFamily="34" charset="0"/>
                <a:cs typeface="F31"/>
              </a:rPr>
              <a:t>işçi</a:t>
            </a:r>
            <a:r>
              <a:rPr lang="tr-TR" sz="1800" dirty="0">
                <a:solidFill>
                  <a:srgbClr val="4071A1"/>
                </a:solidFill>
                <a:effectLst/>
                <a:latin typeface="F106"/>
                <a:ea typeface="Calibri" panose="020F0502020204030204" pitchFamily="34" charset="0"/>
                <a:cs typeface="F106"/>
              </a:rPr>
              <a:t>'</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dirty="0">
                <a:solidFill>
                  <a:srgbClr val="4071A1"/>
                </a:solidFill>
                <a:effectLst/>
                <a:latin typeface="F106"/>
                <a:ea typeface="Calibri" panose="020F0502020204030204" pitchFamily="34" charset="0"/>
                <a:cs typeface="F106"/>
              </a:rPr>
              <a:t> </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dirty="0">
                <a:effectLst/>
                <a:latin typeface="DroidSans"/>
                <a:ea typeface="Calibri" panose="020F0502020204030204" pitchFamily="34" charset="0"/>
                <a:cs typeface="DroidSans"/>
              </a:rPr>
              <a:t>Burada </a:t>
            </a:r>
            <a:r>
              <a:rPr lang="tr-TR" sz="1800" dirty="0">
                <a:effectLst/>
                <a:latin typeface="DroidSans-Slant_213"/>
                <a:ea typeface="Calibri" panose="020F0502020204030204" pitchFamily="34" charset="0"/>
                <a:cs typeface="DroidSans-Slant_213"/>
              </a:rPr>
              <a:t>unvanı </a:t>
            </a:r>
            <a:r>
              <a:rPr lang="tr-TR" sz="1800" dirty="0">
                <a:effectLst/>
                <a:latin typeface="DroidSans"/>
                <a:ea typeface="Calibri" panose="020F0502020204030204" pitchFamily="34" charset="0"/>
                <a:cs typeface="DroidSans"/>
              </a:rPr>
              <a:t>ve </a:t>
            </a:r>
            <a:r>
              <a:rPr lang="tr-TR" sz="1800" dirty="0">
                <a:effectLst/>
                <a:latin typeface="DroidSans-Slant_213"/>
                <a:ea typeface="Calibri" panose="020F0502020204030204" pitchFamily="34" charset="0"/>
                <a:cs typeface="DroidSans-Slant_213"/>
              </a:rPr>
              <a:t>kabiliyetleri </a:t>
            </a:r>
            <a:r>
              <a:rPr lang="tr-TR" sz="1800" dirty="0">
                <a:effectLst/>
                <a:latin typeface="DroidSans"/>
                <a:ea typeface="Calibri" panose="020F0502020204030204" pitchFamily="34" charset="0"/>
                <a:cs typeface="DroidSans"/>
              </a:rPr>
              <a:t>adlı iki değişken tanımladık. Teknik dilde bu değişkenlere ‘sınıf niteliği’ (</a:t>
            </a:r>
            <a:r>
              <a:rPr lang="tr-TR" sz="1800" dirty="0" err="1">
                <a:effectLst/>
                <a:latin typeface="DroidSans-Slant_213"/>
                <a:ea typeface="Calibri" panose="020F0502020204030204" pitchFamily="34" charset="0"/>
                <a:cs typeface="DroidSans-Slant_213"/>
              </a:rPr>
              <a:t>class</a:t>
            </a:r>
            <a:r>
              <a:rPr lang="tr-TR" sz="1800" dirty="0">
                <a:effectLst/>
                <a:latin typeface="DroidSans-Slant_213"/>
                <a:ea typeface="Calibri" panose="020F0502020204030204" pitchFamily="34" charset="0"/>
                <a:cs typeface="DroidSans-Slant_213"/>
              </a:rPr>
              <a:t> </a:t>
            </a:r>
            <a:r>
              <a:rPr lang="tr-TR" sz="1800" dirty="0" err="1">
                <a:effectLst/>
                <a:latin typeface="DroidSans-Slant_213"/>
                <a:ea typeface="Calibri" panose="020F0502020204030204" pitchFamily="34" charset="0"/>
                <a:cs typeface="DroidSans-Slant_213"/>
              </a:rPr>
              <a:t>attribute</a:t>
            </a:r>
            <a:r>
              <a:rPr lang="tr-TR" sz="1800" dirty="0">
                <a:effectLst/>
                <a:latin typeface="DroidSans"/>
                <a:ea typeface="Calibri" panose="020F0502020204030204" pitchFamily="34" charset="0"/>
                <a:cs typeface="DroidSans"/>
              </a:rPr>
              <a:t>) adı verilir.</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b="1" dirty="0">
                <a:solidFill>
                  <a:srgbClr val="20435C"/>
                </a:solidFill>
                <a:effectLst/>
                <a:latin typeface="DroidSans-Bold"/>
                <a:ea typeface="Calibri" panose="020F0502020204030204" pitchFamily="34" charset="0"/>
                <a:cs typeface="DroidSans-Bold"/>
              </a:rPr>
              <a:t> </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tr-TR" dirty="0"/>
          </a:p>
        </p:txBody>
      </p:sp>
    </p:spTree>
    <p:extLst>
      <p:ext uri="{BB962C8B-B14F-4D97-AF65-F5344CB8AC3E}">
        <p14:creationId xmlns:p14="http://schemas.microsoft.com/office/powerpoint/2010/main" val="2677209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55E5006-4F68-E115-80C7-33949345BE87}"/>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778E73F9-EDF0-7637-3C71-6F0835A44B12}"/>
              </a:ext>
            </a:extLst>
          </p:cNvPr>
          <p:cNvSpPr>
            <a:spLocks noGrp="1"/>
          </p:cNvSpPr>
          <p:nvPr>
            <p:ph idx="1"/>
          </p:nvPr>
        </p:nvSpPr>
        <p:spPr/>
        <p:txBody>
          <a:bodyPr>
            <a:normAutofit fontScale="92500" lnSpcReduction="10000"/>
          </a:bodyPr>
          <a:lstStyle/>
          <a:p>
            <a:pPr>
              <a:lnSpc>
                <a:spcPct val="107000"/>
              </a:lnSpc>
              <a:spcAft>
                <a:spcPts val="800"/>
              </a:spcAft>
            </a:pPr>
            <a:r>
              <a:rPr lang="tr-TR" sz="1800" dirty="0" err="1">
                <a:solidFill>
                  <a:srgbClr val="007121"/>
                </a:solidFill>
                <a:effectLst/>
                <a:latin typeface="F31"/>
                <a:ea typeface="Calibri" panose="020F0502020204030204" pitchFamily="34" charset="0"/>
                <a:cs typeface="F31"/>
              </a:rPr>
              <a:t>class</a:t>
            </a:r>
            <a:r>
              <a:rPr lang="tr-TR" sz="1800" dirty="0">
                <a:solidFill>
                  <a:srgbClr val="007121"/>
                </a:solidFill>
                <a:effectLst/>
                <a:latin typeface="F31"/>
                <a:ea typeface="Calibri" panose="020F0502020204030204" pitchFamily="34" charset="0"/>
                <a:cs typeface="F31"/>
              </a:rPr>
              <a:t> </a:t>
            </a:r>
            <a:r>
              <a:rPr lang="tr-TR" sz="1800" dirty="0">
                <a:solidFill>
                  <a:srgbClr val="0D85B6"/>
                </a:solidFill>
                <a:effectLst/>
                <a:latin typeface="F31"/>
                <a:ea typeface="Calibri" panose="020F0502020204030204" pitchFamily="34" charset="0"/>
                <a:cs typeface="F31"/>
              </a:rPr>
              <a:t>Çalışan</a:t>
            </a:r>
            <a:r>
              <a:rPr lang="tr-TR" sz="1800" dirty="0">
                <a:solidFill>
                  <a:srgbClr val="000000"/>
                </a:solidFill>
                <a:effectLst/>
                <a:latin typeface="F31"/>
                <a:ea typeface="Calibri" panose="020F0502020204030204" pitchFamily="34" charset="0"/>
                <a:cs typeface="F31"/>
              </a:rPr>
              <a:t>():</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449580">
              <a:lnSpc>
                <a:spcPct val="107000"/>
              </a:lnSpc>
              <a:spcAft>
                <a:spcPts val="800"/>
              </a:spcAft>
            </a:pPr>
            <a:r>
              <a:rPr lang="tr-TR" sz="1800" dirty="0">
                <a:solidFill>
                  <a:srgbClr val="000000"/>
                </a:solidFill>
                <a:effectLst/>
                <a:latin typeface="F31"/>
                <a:ea typeface="Calibri" panose="020F0502020204030204" pitchFamily="34" charset="0"/>
                <a:cs typeface="F31"/>
              </a:rPr>
              <a:t>kabiliyetleri </a:t>
            </a:r>
            <a:r>
              <a:rPr lang="tr-TR" sz="1800" dirty="0">
                <a:solidFill>
                  <a:srgbClr val="666666"/>
                </a:solidFill>
                <a:effectLst/>
                <a:latin typeface="F31"/>
                <a:ea typeface="Calibri" panose="020F0502020204030204" pitchFamily="34" charset="0"/>
                <a:cs typeface="F31"/>
              </a:rPr>
              <a:t>= </a:t>
            </a:r>
            <a:r>
              <a:rPr lang="tr-TR" sz="1800" dirty="0">
                <a:solidFill>
                  <a:srgbClr val="000000"/>
                </a:solidFill>
                <a:effectLst/>
                <a:latin typeface="F31"/>
                <a:ea typeface="Calibri" panose="020F0502020204030204" pitchFamily="34" charset="0"/>
                <a:cs typeface="F31"/>
              </a:rPr>
              <a:t>[]</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449580">
              <a:lnSpc>
                <a:spcPct val="107000"/>
              </a:lnSpc>
              <a:spcAft>
                <a:spcPts val="800"/>
              </a:spcAft>
            </a:pPr>
            <a:r>
              <a:rPr lang="tr-TR" sz="1800" dirty="0">
                <a:solidFill>
                  <a:srgbClr val="000000"/>
                </a:solidFill>
                <a:effectLst/>
                <a:latin typeface="F31"/>
                <a:ea typeface="Calibri" panose="020F0502020204030204" pitchFamily="34" charset="0"/>
                <a:cs typeface="F31"/>
              </a:rPr>
              <a:t>unvanı </a:t>
            </a:r>
            <a:r>
              <a:rPr lang="tr-TR" sz="1800" dirty="0">
                <a:solidFill>
                  <a:srgbClr val="666666"/>
                </a:solidFill>
                <a:effectLst/>
                <a:latin typeface="F31"/>
                <a:ea typeface="Calibri" panose="020F0502020204030204" pitchFamily="34" charset="0"/>
                <a:cs typeface="F31"/>
              </a:rPr>
              <a:t>= </a:t>
            </a:r>
            <a:r>
              <a:rPr lang="tr-TR" sz="1800" dirty="0">
                <a:solidFill>
                  <a:srgbClr val="4071A1"/>
                </a:solidFill>
                <a:effectLst/>
                <a:latin typeface="F106"/>
                <a:ea typeface="Calibri" panose="020F0502020204030204" pitchFamily="34" charset="0"/>
                <a:cs typeface="F106"/>
              </a:rPr>
              <a:t>'</a:t>
            </a:r>
            <a:r>
              <a:rPr lang="tr-TR" sz="1800" dirty="0">
                <a:solidFill>
                  <a:srgbClr val="4071A1"/>
                </a:solidFill>
                <a:effectLst/>
                <a:latin typeface="F31"/>
                <a:ea typeface="Calibri" panose="020F0502020204030204" pitchFamily="34" charset="0"/>
                <a:cs typeface="F31"/>
              </a:rPr>
              <a:t>işçi</a:t>
            </a:r>
            <a:r>
              <a:rPr lang="tr-TR" sz="1800" dirty="0">
                <a:solidFill>
                  <a:srgbClr val="4071A1"/>
                </a:solidFill>
                <a:effectLst/>
                <a:latin typeface="F106"/>
                <a:ea typeface="Calibri" panose="020F0502020204030204" pitchFamily="34" charset="0"/>
                <a:cs typeface="F106"/>
              </a:rPr>
              <a:t>'</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449580">
              <a:lnSpc>
                <a:spcPct val="107000"/>
              </a:lnSpc>
              <a:spcAft>
                <a:spcPts val="800"/>
              </a:spcAft>
            </a:pPr>
            <a:r>
              <a:rPr lang="tr-TR" sz="1800" dirty="0">
                <a:solidFill>
                  <a:srgbClr val="000000"/>
                </a:solidFill>
                <a:effectLst/>
                <a:latin typeface="F31"/>
                <a:ea typeface="Calibri" panose="020F0502020204030204" pitchFamily="34" charset="0"/>
                <a:cs typeface="F31"/>
              </a:rPr>
              <a:t>maaşı </a:t>
            </a:r>
            <a:r>
              <a:rPr lang="tr-TR" sz="1800" dirty="0">
                <a:solidFill>
                  <a:srgbClr val="666666"/>
                </a:solidFill>
                <a:effectLst/>
                <a:latin typeface="F31"/>
                <a:ea typeface="Calibri" panose="020F0502020204030204" pitchFamily="34" charset="0"/>
                <a:cs typeface="F31"/>
              </a:rPr>
              <a:t>= </a:t>
            </a:r>
            <a:r>
              <a:rPr lang="tr-TR" sz="1800" dirty="0">
                <a:solidFill>
                  <a:srgbClr val="21804F"/>
                </a:solidFill>
                <a:effectLst/>
                <a:latin typeface="F31"/>
                <a:ea typeface="Calibri" panose="020F0502020204030204" pitchFamily="34" charset="0"/>
                <a:cs typeface="F31"/>
              </a:rPr>
              <a:t>1500</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449580">
              <a:lnSpc>
                <a:spcPct val="107000"/>
              </a:lnSpc>
              <a:spcAft>
                <a:spcPts val="800"/>
              </a:spcAft>
            </a:pPr>
            <a:r>
              <a:rPr lang="tr-TR" sz="1800" dirty="0">
                <a:solidFill>
                  <a:srgbClr val="000000"/>
                </a:solidFill>
                <a:effectLst/>
                <a:latin typeface="F31"/>
                <a:ea typeface="Calibri" panose="020F0502020204030204" pitchFamily="34" charset="0"/>
                <a:cs typeface="F31"/>
              </a:rPr>
              <a:t>memleketi </a:t>
            </a:r>
            <a:r>
              <a:rPr lang="tr-TR" sz="1800" dirty="0">
                <a:solidFill>
                  <a:srgbClr val="666666"/>
                </a:solidFill>
                <a:effectLst/>
                <a:latin typeface="F31"/>
                <a:ea typeface="Calibri" panose="020F0502020204030204" pitchFamily="34" charset="0"/>
                <a:cs typeface="F31"/>
              </a:rPr>
              <a:t>= </a:t>
            </a:r>
            <a:r>
              <a:rPr lang="tr-TR" sz="1800" dirty="0">
                <a:solidFill>
                  <a:srgbClr val="4071A1"/>
                </a:solidFill>
                <a:effectLst/>
                <a:latin typeface="F106"/>
                <a:ea typeface="Calibri" panose="020F0502020204030204" pitchFamily="34" charset="0"/>
                <a:cs typeface="F106"/>
              </a:rPr>
              <a:t>''</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449580">
              <a:lnSpc>
                <a:spcPct val="107000"/>
              </a:lnSpc>
              <a:spcAft>
                <a:spcPts val="800"/>
              </a:spcAft>
            </a:pPr>
            <a:r>
              <a:rPr lang="tr-TR" sz="1800" dirty="0" err="1">
                <a:solidFill>
                  <a:srgbClr val="000000"/>
                </a:solidFill>
                <a:effectLst/>
                <a:latin typeface="F31"/>
                <a:ea typeface="Calibri" panose="020F0502020204030204" pitchFamily="34" charset="0"/>
                <a:cs typeface="F31"/>
              </a:rPr>
              <a:t>doğum_tarihi</a:t>
            </a:r>
            <a:r>
              <a:rPr lang="tr-TR" sz="1800" dirty="0">
                <a:solidFill>
                  <a:srgbClr val="000000"/>
                </a:solidFill>
                <a:effectLst/>
                <a:latin typeface="F31"/>
                <a:ea typeface="Calibri" panose="020F0502020204030204" pitchFamily="34" charset="0"/>
                <a:cs typeface="F31"/>
              </a:rPr>
              <a:t> </a:t>
            </a:r>
            <a:r>
              <a:rPr lang="tr-TR" sz="1800" dirty="0">
                <a:solidFill>
                  <a:srgbClr val="666666"/>
                </a:solidFill>
                <a:effectLst/>
                <a:latin typeface="F31"/>
                <a:ea typeface="Calibri" panose="020F0502020204030204" pitchFamily="34" charset="0"/>
                <a:cs typeface="F31"/>
              </a:rPr>
              <a:t>= </a:t>
            </a:r>
            <a:r>
              <a:rPr lang="tr-TR" sz="1800" dirty="0">
                <a:solidFill>
                  <a:srgbClr val="4071A1"/>
                </a:solidFill>
                <a:effectLst/>
                <a:latin typeface="F106"/>
                <a:ea typeface="Calibri" panose="020F0502020204030204" pitchFamily="34" charset="0"/>
                <a:cs typeface="F106"/>
              </a:rPr>
              <a:t>''</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dirty="0">
                <a:effectLst/>
                <a:latin typeface="DroidSans"/>
                <a:ea typeface="Calibri" panose="020F0502020204030204" pitchFamily="34" charset="0"/>
                <a:cs typeface="DroidSans"/>
              </a:rPr>
              <a:t>‘Çalışan’ adlı bir grubun ortak niteliklerini belirledik. Elbette her çalışanın memleketi ve doğum tarihi farklı olacağı için sınıf içinde bu değişkenlere belli bir değer atamadık. Bunların birer karakter dizisi olacağını belirten bir işaret olması için yalnızca </a:t>
            </a:r>
            <a:r>
              <a:rPr lang="tr-TR" sz="1800" dirty="0">
                <a:effectLst/>
                <a:latin typeface="DroidSans-Slant_213"/>
                <a:ea typeface="Calibri" panose="020F0502020204030204" pitchFamily="34" charset="0"/>
                <a:cs typeface="DroidSans-Slant_213"/>
              </a:rPr>
              <a:t>memleketi </a:t>
            </a:r>
            <a:r>
              <a:rPr lang="tr-TR" sz="1800" dirty="0">
                <a:effectLst/>
                <a:latin typeface="DroidSans"/>
                <a:ea typeface="Calibri" panose="020F0502020204030204" pitchFamily="34" charset="0"/>
                <a:cs typeface="DroidSans"/>
              </a:rPr>
              <a:t>ve </a:t>
            </a:r>
            <a:r>
              <a:rPr lang="tr-TR" sz="1800" dirty="0" err="1">
                <a:effectLst/>
                <a:latin typeface="DroidSans-Slant_213"/>
                <a:ea typeface="Calibri" panose="020F0502020204030204" pitchFamily="34" charset="0"/>
                <a:cs typeface="DroidSans-Slant_213"/>
              </a:rPr>
              <a:t>doğum_tarihi</a:t>
            </a:r>
            <a:r>
              <a:rPr lang="tr-TR" sz="1800" dirty="0">
                <a:effectLst/>
                <a:latin typeface="DroidSans-Slant_213"/>
                <a:ea typeface="Calibri" panose="020F0502020204030204" pitchFamily="34" charset="0"/>
                <a:cs typeface="DroidSans-Slant_213"/>
              </a:rPr>
              <a:t> </a:t>
            </a:r>
            <a:r>
              <a:rPr lang="tr-TR" sz="1800" dirty="0">
                <a:effectLst/>
                <a:latin typeface="DroidSans"/>
                <a:ea typeface="Calibri" panose="020F0502020204030204" pitchFamily="34" charset="0"/>
                <a:cs typeface="DroidSans"/>
              </a:rPr>
              <a:t>adlı birer boş karakter dizisi tanımladık.</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dirty="0">
                <a:effectLst/>
                <a:latin typeface="DroidSans"/>
                <a:ea typeface="Calibri" panose="020F0502020204030204" pitchFamily="34" charset="0"/>
                <a:cs typeface="DroidSans"/>
              </a:rPr>
              <a:t>Sınıf niteliklerine, doğrudan sınıf adını kullanarak erişebilmek </a:t>
            </a:r>
            <a:r>
              <a:rPr lang="tr-TR" sz="1800" dirty="0">
                <a:solidFill>
                  <a:srgbClr val="007121"/>
                </a:solidFill>
                <a:effectLst/>
                <a:latin typeface="F31"/>
                <a:ea typeface="Calibri" panose="020F0502020204030204" pitchFamily="34" charset="0"/>
                <a:cs typeface="F31"/>
              </a:rPr>
              <a:t>mümkündür.</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tr-TR" dirty="0"/>
          </a:p>
        </p:txBody>
      </p:sp>
    </p:spTree>
    <p:extLst>
      <p:ext uri="{BB962C8B-B14F-4D97-AF65-F5344CB8AC3E}">
        <p14:creationId xmlns:p14="http://schemas.microsoft.com/office/powerpoint/2010/main" val="17748513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8A497FC-71F6-AC5B-186E-18662466217F}"/>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7CE815AD-EDF3-F2B2-5858-C4844F33792C}"/>
              </a:ext>
            </a:extLst>
          </p:cNvPr>
          <p:cNvSpPr>
            <a:spLocks noGrp="1"/>
          </p:cNvSpPr>
          <p:nvPr>
            <p:ph idx="1"/>
          </p:nvPr>
        </p:nvSpPr>
        <p:spPr/>
        <p:txBody>
          <a:bodyPr/>
          <a:lstStyle/>
          <a:p>
            <a:pPr marL="0" indent="0">
              <a:lnSpc>
                <a:spcPct val="107000"/>
              </a:lnSpc>
              <a:spcAft>
                <a:spcPts val="800"/>
              </a:spcAft>
              <a:buNone/>
            </a:pP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tr-TR" sz="1800" dirty="0" err="1">
                <a:solidFill>
                  <a:srgbClr val="007121"/>
                </a:solidFill>
                <a:effectLst/>
                <a:latin typeface="F31"/>
                <a:ea typeface="Calibri" panose="020F0502020204030204" pitchFamily="34" charset="0"/>
                <a:cs typeface="F31"/>
              </a:rPr>
              <a:t>print</a:t>
            </a:r>
            <a:r>
              <a:rPr lang="tr-TR" sz="1800" dirty="0">
                <a:solidFill>
                  <a:srgbClr val="000000"/>
                </a:solidFill>
                <a:effectLst/>
                <a:latin typeface="F31"/>
                <a:ea typeface="Calibri" panose="020F0502020204030204" pitchFamily="34" charset="0"/>
                <a:cs typeface="F31"/>
              </a:rPr>
              <a:t>(</a:t>
            </a:r>
            <a:r>
              <a:rPr lang="tr-TR" sz="1800" dirty="0" err="1">
                <a:solidFill>
                  <a:srgbClr val="000000"/>
                </a:solidFill>
                <a:effectLst/>
                <a:latin typeface="F31"/>
                <a:ea typeface="Calibri" panose="020F0502020204030204" pitchFamily="34" charset="0"/>
                <a:cs typeface="F31"/>
              </a:rPr>
              <a:t>Çalışan</a:t>
            </a:r>
            <a:r>
              <a:rPr lang="tr-TR" sz="1800" dirty="0" err="1">
                <a:solidFill>
                  <a:srgbClr val="666666"/>
                </a:solidFill>
                <a:effectLst/>
                <a:latin typeface="F31"/>
                <a:ea typeface="Calibri" panose="020F0502020204030204" pitchFamily="34" charset="0"/>
                <a:cs typeface="F31"/>
              </a:rPr>
              <a:t>.</a:t>
            </a:r>
            <a:r>
              <a:rPr lang="tr-TR" sz="1800" dirty="0" err="1">
                <a:solidFill>
                  <a:srgbClr val="000000"/>
                </a:solidFill>
                <a:effectLst/>
                <a:latin typeface="F31"/>
                <a:ea typeface="Calibri" panose="020F0502020204030204" pitchFamily="34" charset="0"/>
                <a:cs typeface="F31"/>
              </a:rPr>
              <a:t>maaşı</a:t>
            </a:r>
            <a:r>
              <a:rPr lang="tr-TR" sz="1800" dirty="0">
                <a:solidFill>
                  <a:srgbClr val="000000"/>
                </a:solidFill>
                <a:effectLst/>
                <a:latin typeface="F31"/>
                <a:ea typeface="Calibri" panose="020F0502020204030204" pitchFamily="34" charset="0"/>
                <a:cs typeface="F31"/>
              </a:rPr>
              <a:t>)</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tr-TR" sz="1800" dirty="0" err="1">
                <a:solidFill>
                  <a:srgbClr val="007121"/>
                </a:solidFill>
                <a:effectLst/>
                <a:latin typeface="F31"/>
                <a:ea typeface="Calibri" panose="020F0502020204030204" pitchFamily="34" charset="0"/>
                <a:cs typeface="F31"/>
              </a:rPr>
              <a:t>print</a:t>
            </a:r>
            <a:r>
              <a:rPr lang="tr-TR" sz="1800" dirty="0">
                <a:solidFill>
                  <a:srgbClr val="000000"/>
                </a:solidFill>
                <a:effectLst/>
                <a:latin typeface="F31"/>
                <a:ea typeface="Calibri" panose="020F0502020204030204" pitchFamily="34" charset="0"/>
                <a:cs typeface="F31"/>
              </a:rPr>
              <a:t>(</a:t>
            </a:r>
            <a:r>
              <a:rPr lang="tr-TR" sz="1800" dirty="0" err="1">
                <a:solidFill>
                  <a:srgbClr val="000000"/>
                </a:solidFill>
                <a:effectLst/>
                <a:latin typeface="F31"/>
                <a:ea typeface="Calibri" panose="020F0502020204030204" pitchFamily="34" charset="0"/>
                <a:cs typeface="F31"/>
              </a:rPr>
              <a:t>Çalışan</a:t>
            </a:r>
            <a:r>
              <a:rPr lang="tr-TR" sz="1800" dirty="0" err="1">
                <a:solidFill>
                  <a:srgbClr val="666666"/>
                </a:solidFill>
                <a:effectLst/>
                <a:latin typeface="F31"/>
                <a:ea typeface="Calibri" panose="020F0502020204030204" pitchFamily="34" charset="0"/>
                <a:cs typeface="F31"/>
              </a:rPr>
              <a:t>.</a:t>
            </a:r>
            <a:r>
              <a:rPr lang="tr-TR" sz="1800" dirty="0" err="1">
                <a:solidFill>
                  <a:srgbClr val="000000"/>
                </a:solidFill>
                <a:effectLst/>
                <a:latin typeface="F31"/>
                <a:ea typeface="Calibri" panose="020F0502020204030204" pitchFamily="34" charset="0"/>
                <a:cs typeface="F31"/>
              </a:rPr>
              <a:t>memleketi</a:t>
            </a:r>
            <a:r>
              <a:rPr lang="tr-TR" sz="1800" dirty="0">
                <a:solidFill>
                  <a:srgbClr val="000000"/>
                </a:solidFill>
                <a:effectLst/>
                <a:latin typeface="F31"/>
                <a:ea typeface="Calibri" panose="020F0502020204030204" pitchFamily="34" charset="0"/>
                <a:cs typeface="F31"/>
              </a:rPr>
              <a:t>)</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tr-TR" sz="1800" dirty="0" err="1">
                <a:solidFill>
                  <a:srgbClr val="007121"/>
                </a:solidFill>
                <a:effectLst/>
                <a:latin typeface="F31"/>
                <a:ea typeface="Calibri" panose="020F0502020204030204" pitchFamily="34" charset="0"/>
                <a:cs typeface="F31"/>
              </a:rPr>
              <a:t>print</a:t>
            </a:r>
            <a:r>
              <a:rPr lang="tr-TR" sz="1800" dirty="0">
                <a:solidFill>
                  <a:srgbClr val="000000"/>
                </a:solidFill>
                <a:effectLst/>
                <a:latin typeface="F31"/>
                <a:ea typeface="Calibri" panose="020F0502020204030204" pitchFamily="34" charset="0"/>
                <a:cs typeface="F31"/>
              </a:rPr>
              <a:t>(</a:t>
            </a:r>
            <a:r>
              <a:rPr lang="tr-TR" sz="1800" dirty="0" err="1">
                <a:solidFill>
                  <a:srgbClr val="000000"/>
                </a:solidFill>
                <a:effectLst/>
                <a:latin typeface="F31"/>
                <a:ea typeface="Calibri" panose="020F0502020204030204" pitchFamily="34" charset="0"/>
                <a:cs typeface="F31"/>
              </a:rPr>
              <a:t>Çalışan</a:t>
            </a:r>
            <a:r>
              <a:rPr lang="tr-TR" sz="1800" dirty="0" err="1">
                <a:solidFill>
                  <a:srgbClr val="666666"/>
                </a:solidFill>
                <a:effectLst/>
                <a:latin typeface="F31"/>
                <a:ea typeface="Calibri" panose="020F0502020204030204" pitchFamily="34" charset="0"/>
                <a:cs typeface="F31"/>
              </a:rPr>
              <a:t>.</a:t>
            </a:r>
            <a:r>
              <a:rPr lang="tr-TR" sz="1800" dirty="0" err="1">
                <a:solidFill>
                  <a:srgbClr val="000000"/>
                </a:solidFill>
                <a:effectLst/>
                <a:latin typeface="F31"/>
                <a:ea typeface="Calibri" panose="020F0502020204030204" pitchFamily="34" charset="0"/>
                <a:cs typeface="F31"/>
              </a:rPr>
              <a:t>doğum_tarihi</a:t>
            </a:r>
            <a:r>
              <a:rPr lang="tr-TR" sz="1800" dirty="0">
                <a:solidFill>
                  <a:srgbClr val="000000"/>
                </a:solidFill>
                <a:effectLst/>
                <a:latin typeface="F31"/>
                <a:ea typeface="Calibri" panose="020F0502020204030204" pitchFamily="34" charset="0"/>
                <a:cs typeface="F31"/>
              </a:rPr>
              <a:t>)</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tr-TR" sz="1800" dirty="0">
                <a:effectLst/>
                <a:latin typeface="DroidSans"/>
                <a:ea typeface="Calibri" panose="020F0502020204030204" pitchFamily="34" charset="0"/>
                <a:cs typeface="DroidSans"/>
              </a:rPr>
              <a:t> </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tr-TR" sz="1800" dirty="0">
                <a:effectLst/>
                <a:latin typeface="DroidSans"/>
                <a:ea typeface="Calibri" panose="020F0502020204030204" pitchFamily="34" charset="0"/>
                <a:cs typeface="DroidSans"/>
              </a:rPr>
              <a:t>bu sınıfa yeni sınıf nitelikleri de ekleyebilirsiniz</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tr-TR" sz="1800" dirty="0" err="1">
                <a:solidFill>
                  <a:srgbClr val="000000"/>
                </a:solidFill>
                <a:effectLst/>
                <a:latin typeface="F31"/>
                <a:ea typeface="Calibri" panose="020F0502020204030204" pitchFamily="34" charset="0"/>
                <a:cs typeface="F31"/>
              </a:rPr>
              <a:t>Çalışan</a:t>
            </a:r>
            <a:r>
              <a:rPr lang="tr-TR" sz="1800" dirty="0" err="1">
                <a:solidFill>
                  <a:srgbClr val="666666"/>
                </a:solidFill>
                <a:effectLst/>
                <a:latin typeface="F31"/>
                <a:ea typeface="Calibri" panose="020F0502020204030204" pitchFamily="34" charset="0"/>
                <a:cs typeface="F31"/>
              </a:rPr>
              <a:t>.</a:t>
            </a:r>
            <a:r>
              <a:rPr lang="tr-TR" sz="1800" dirty="0" err="1">
                <a:solidFill>
                  <a:srgbClr val="000000"/>
                </a:solidFill>
                <a:effectLst/>
                <a:latin typeface="F31"/>
                <a:ea typeface="Calibri" panose="020F0502020204030204" pitchFamily="34" charset="0"/>
                <a:cs typeface="F31"/>
              </a:rPr>
              <a:t>isim</a:t>
            </a:r>
            <a:r>
              <a:rPr lang="tr-TR" sz="1800" dirty="0">
                <a:solidFill>
                  <a:srgbClr val="000000"/>
                </a:solidFill>
                <a:effectLst/>
                <a:latin typeface="F31"/>
                <a:ea typeface="Calibri" panose="020F0502020204030204" pitchFamily="34" charset="0"/>
                <a:cs typeface="F31"/>
              </a:rPr>
              <a:t> </a:t>
            </a:r>
            <a:r>
              <a:rPr lang="tr-TR" sz="1800" dirty="0">
                <a:solidFill>
                  <a:srgbClr val="666666"/>
                </a:solidFill>
                <a:effectLst/>
                <a:latin typeface="F31"/>
                <a:ea typeface="Calibri" panose="020F0502020204030204" pitchFamily="34" charset="0"/>
                <a:cs typeface="F31"/>
              </a:rPr>
              <a:t>= </a:t>
            </a:r>
            <a:r>
              <a:rPr lang="tr-TR" sz="1800" dirty="0">
                <a:solidFill>
                  <a:srgbClr val="4071A1"/>
                </a:solidFill>
                <a:effectLst/>
                <a:latin typeface="F106"/>
                <a:ea typeface="Calibri" panose="020F0502020204030204" pitchFamily="34" charset="0"/>
                <a:cs typeface="F106"/>
              </a:rPr>
              <a:t>'</a:t>
            </a:r>
            <a:r>
              <a:rPr lang="tr-TR" sz="1800" dirty="0">
                <a:solidFill>
                  <a:srgbClr val="4071A1"/>
                </a:solidFill>
                <a:effectLst/>
                <a:latin typeface="F31"/>
                <a:ea typeface="Calibri" panose="020F0502020204030204" pitchFamily="34" charset="0"/>
                <a:cs typeface="F31"/>
              </a:rPr>
              <a:t>Ahmet</a:t>
            </a:r>
            <a:r>
              <a:rPr lang="tr-TR" sz="1800" dirty="0">
                <a:solidFill>
                  <a:srgbClr val="4071A1"/>
                </a:solidFill>
                <a:effectLst/>
                <a:latin typeface="F106"/>
                <a:ea typeface="Calibri" panose="020F0502020204030204" pitchFamily="34" charset="0"/>
                <a:cs typeface="F106"/>
              </a:rPr>
              <a:t>'</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tr-TR" sz="1800" dirty="0" err="1">
                <a:solidFill>
                  <a:srgbClr val="000000"/>
                </a:solidFill>
                <a:effectLst/>
                <a:latin typeface="F31"/>
                <a:ea typeface="Calibri" panose="020F0502020204030204" pitchFamily="34" charset="0"/>
                <a:cs typeface="F31"/>
              </a:rPr>
              <a:t>Çalışan</a:t>
            </a:r>
            <a:r>
              <a:rPr lang="tr-TR" sz="1800" dirty="0" err="1">
                <a:solidFill>
                  <a:srgbClr val="666666"/>
                </a:solidFill>
                <a:effectLst/>
                <a:latin typeface="F31"/>
                <a:ea typeface="Calibri" panose="020F0502020204030204" pitchFamily="34" charset="0"/>
                <a:cs typeface="F31"/>
              </a:rPr>
              <a:t>.</a:t>
            </a:r>
            <a:r>
              <a:rPr lang="tr-TR" sz="1800" dirty="0" err="1">
                <a:solidFill>
                  <a:srgbClr val="000000"/>
                </a:solidFill>
                <a:effectLst/>
                <a:latin typeface="F31"/>
                <a:ea typeface="Calibri" panose="020F0502020204030204" pitchFamily="34" charset="0"/>
                <a:cs typeface="F31"/>
              </a:rPr>
              <a:t>yaş</a:t>
            </a:r>
            <a:r>
              <a:rPr lang="tr-TR" sz="1800" dirty="0">
                <a:solidFill>
                  <a:srgbClr val="000000"/>
                </a:solidFill>
                <a:effectLst/>
                <a:latin typeface="F31"/>
                <a:ea typeface="Calibri" panose="020F0502020204030204" pitchFamily="34" charset="0"/>
                <a:cs typeface="F31"/>
              </a:rPr>
              <a:t> </a:t>
            </a:r>
            <a:r>
              <a:rPr lang="tr-TR" sz="1800" dirty="0">
                <a:solidFill>
                  <a:srgbClr val="666666"/>
                </a:solidFill>
                <a:effectLst/>
                <a:latin typeface="F31"/>
                <a:ea typeface="Calibri" panose="020F0502020204030204" pitchFamily="34" charset="0"/>
                <a:cs typeface="F31"/>
              </a:rPr>
              <a:t>= </a:t>
            </a:r>
            <a:r>
              <a:rPr lang="tr-TR" sz="1800" dirty="0">
                <a:solidFill>
                  <a:srgbClr val="21804F"/>
                </a:solidFill>
                <a:effectLst/>
                <a:latin typeface="F31"/>
                <a:ea typeface="Calibri" panose="020F0502020204030204" pitchFamily="34" charset="0"/>
                <a:cs typeface="F31"/>
              </a:rPr>
              <a:t>40</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tr-TR" dirty="0"/>
          </a:p>
        </p:txBody>
      </p:sp>
    </p:spTree>
    <p:extLst>
      <p:ext uri="{BB962C8B-B14F-4D97-AF65-F5344CB8AC3E}">
        <p14:creationId xmlns:p14="http://schemas.microsoft.com/office/powerpoint/2010/main" val="2122343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F87B5C5-3328-2DB2-AF5F-0DAA792B24B6}"/>
              </a:ext>
            </a:extLst>
          </p:cNvPr>
          <p:cNvSpPr>
            <a:spLocks noGrp="1"/>
          </p:cNvSpPr>
          <p:nvPr>
            <p:ph type="title"/>
          </p:nvPr>
        </p:nvSpPr>
        <p:spPr/>
        <p:txBody>
          <a:bodyPr/>
          <a:lstStyle/>
          <a:p>
            <a:endParaRPr lang="tr-TR"/>
          </a:p>
        </p:txBody>
      </p:sp>
      <p:pic>
        <p:nvPicPr>
          <p:cNvPr id="5" name="İçerik Yer Tutucusu 4">
            <a:extLst>
              <a:ext uri="{FF2B5EF4-FFF2-40B4-BE49-F238E27FC236}">
                <a16:creationId xmlns:a16="http://schemas.microsoft.com/office/drawing/2014/main" id="{D016CC5F-C59E-6803-34C0-D502F3CDB743}"/>
              </a:ext>
            </a:extLst>
          </p:cNvPr>
          <p:cNvPicPr>
            <a:picLocks noGrp="1" noChangeAspect="1"/>
          </p:cNvPicPr>
          <p:nvPr>
            <p:ph idx="1"/>
          </p:nvPr>
        </p:nvPicPr>
        <p:blipFill>
          <a:blip r:embed="rId2"/>
          <a:stretch>
            <a:fillRect/>
          </a:stretch>
        </p:blipFill>
        <p:spPr>
          <a:xfrm>
            <a:off x="2770632" y="3092228"/>
            <a:ext cx="6650736" cy="1818132"/>
          </a:xfrm>
        </p:spPr>
      </p:pic>
    </p:spTree>
    <p:extLst>
      <p:ext uri="{BB962C8B-B14F-4D97-AF65-F5344CB8AC3E}">
        <p14:creationId xmlns:p14="http://schemas.microsoft.com/office/powerpoint/2010/main" val="32977025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A27EFF9-9E6F-CF39-2A29-19248D71DD8C}"/>
              </a:ext>
            </a:extLst>
          </p:cNvPr>
          <p:cNvSpPr>
            <a:spLocks noGrp="1"/>
          </p:cNvSpPr>
          <p:nvPr>
            <p:ph type="title"/>
          </p:nvPr>
        </p:nvSpPr>
        <p:spPr/>
        <p:txBody>
          <a:bodyPr/>
          <a:lstStyle/>
          <a:p>
            <a:endParaRPr lang="tr-TR"/>
          </a:p>
        </p:txBody>
      </p:sp>
      <p:pic>
        <p:nvPicPr>
          <p:cNvPr id="5" name="İçerik Yer Tutucusu 4">
            <a:extLst>
              <a:ext uri="{FF2B5EF4-FFF2-40B4-BE49-F238E27FC236}">
                <a16:creationId xmlns:a16="http://schemas.microsoft.com/office/drawing/2014/main" id="{A80242E8-3DC4-0A3F-F1F0-8EAA50F72D3E}"/>
              </a:ext>
            </a:extLst>
          </p:cNvPr>
          <p:cNvPicPr>
            <a:picLocks noGrp="1" noChangeAspect="1"/>
          </p:cNvPicPr>
          <p:nvPr>
            <p:ph idx="1"/>
          </p:nvPr>
        </p:nvPicPr>
        <p:blipFill>
          <a:blip r:embed="rId2"/>
          <a:stretch>
            <a:fillRect/>
          </a:stretch>
        </p:blipFill>
        <p:spPr>
          <a:xfrm>
            <a:off x="2770632" y="2971832"/>
            <a:ext cx="6650736" cy="2058924"/>
          </a:xfrm>
        </p:spPr>
      </p:pic>
    </p:spTree>
    <p:extLst>
      <p:ext uri="{BB962C8B-B14F-4D97-AF65-F5344CB8AC3E}">
        <p14:creationId xmlns:p14="http://schemas.microsoft.com/office/powerpoint/2010/main" val="32284754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590B9B7-7EB6-B679-0D34-EA9B6CD4F84C}"/>
              </a:ext>
            </a:extLst>
          </p:cNvPr>
          <p:cNvSpPr>
            <a:spLocks noGrp="1"/>
          </p:cNvSpPr>
          <p:nvPr>
            <p:ph type="title"/>
          </p:nvPr>
        </p:nvSpPr>
        <p:spPr/>
        <p:txBody>
          <a:bodyPr/>
          <a:lstStyle/>
          <a:p>
            <a:endParaRPr lang="tr-TR"/>
          </a:p>
        </p:txBody>
      </p:sp>
      <p:pic>
        <p:nvPicPr>
          <p:cNvPr id="5" name="İçerik Yer Tutucusu 4">
            <a:extLst>
              <a:ext uri="{FF2B5EF4-FFF2-40B4-BE49-F238E27FC236}">
                <a16:creationId xmlns:a16="http://schemas.microsoft.com/office/drawing/2014/main" id="{7DE1A226-BAAB-90CF-92D6-85F208759D31}"/>
              </a:ext>
            </a:extLst>
          </p:cNvPr>
          <p:cNvPicPr>
            <a:picLocks noGrp="1" noChangeAspect="1"/>
          </p:cNvPicPr>
          <p:nvPr>
            <p:ph idx="1"/>
          </p:nvPr>
        </p:nvPicPr>
        <p:blipFill>
          <a:blip r:embed="rId2"/>
          <a:stretch>
            <a:fillRect/>
          </a:stretch>
        </p:blipFill>
        <p:spPr>
          <a:xfrm>
            <a:off x="2770632" y="3488468"/>
            <a:ext cx="6650736" cy="1025652"/>
          </a:xfrm>
        </p:spPr>
      </p:pic>
    </p:spTree>
    <p:extLst>
      <p:ext uri="{BB962C8B-B14F-4D97-AF65-F5344CB8AC3E}">
        <p14:creationId xmlns:p14="http://schemas.microsoft.com/office/powerpoint/2010/main" val="8619019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E5E031C-DA4B-DB5E-C876-67B453599D10}"/>
              </a:ext>
            </a:extLst>
          </p:cNvPr>
          <p:cNvSpPr>
            <a:spLocks noGrp="1"/>
          </p:cNvSpPr>
          <p:nvPr>
            <p:ph type="title"/>
          </p:nvPr>
        </p:nvSpPr>
        <p:spPr/>
        <p:txBody>
          <a:bodyPr/>
          <a:lstStyle/>
          <a:p>
            <a:endParaRPr lang="tr-TR"/>
          </a:p>
        </p:txBody>
      </p:sp>
      <p:pic>
        <p:nvPicPr>
          <p:cNvPr id="5" name="İçerik Yer Tutucusu 4">
            <a:extLst>
              <a:ext uri="{FF2B5EF4-FFF2-40B4-BE49-F238E27FC236}">
                <a16:creationId xmlns:a16="http://schemas.microsoft.com/office/drawing/2014/main" id="{44B47AE0-BF7D-180F-63CA-538D781C1972}"/>
              </a:ext>
            </a:extLst>
          </p:cNvPr>
          <p:cNvPicPr>
            <a:picLocks noGrp="1" noChangeAspect="1"/>
          </p:cNvPicPr>
          <p:nvPr>
            <p:ph idx="1"/>
          </p:nvPr>
        </p:nvPicPr>
        <p:blipFill>
          <a:blip r:embed="rId2"/>
          <a:stretch>
            <a:fillRect/>
          </a:stretch>
        </p:blipFill>
        <p:spPr>
          <a:xfrm>
            <a:off x="2770632" y="3231674"/>
            <a:ext cx="6650736" cy="1539240"/>
          </a:xfrm>
        </p:spPr>
      </p:pic>
    </p:spTree>
    <p:extLst>
      <p:ext uri="{BB962C8B-B14F-4D97-AF65-F5344CB8AC3E}">
        <p14:creationId xmlns:p14="http://schemas.microsoft.com/office/powerpoint/2010/main" val="4678999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68E5861-8E3B-0D3F-8699-41769418301F}"/>
              </a:ext>
            </a:extLst>
          </p:cNvPr>
          <p:cNvSpPr>
            <a:spLocks noGrp="1"/>
          </p:cNvSpPr>
          <p:nvPr>
            <p:ph type="title"/>
          </p:nvPr>
        </p:nvSpPr>
        <p:spPr/>
        <p:txBody>
          <a:bodyPr/>
          <a:lstStyle/>
          <a:p>
            <a:endParaRPr lang="tr-TR"/>
          </a:p>
        </p:txBody>
      </p:sp>
      <p:pic>
        <p:nvPicPr>
          <p:cNvPr id="5" name="İçerik Yer Tutucusu 4">
            <a:extLst>
              <a:ext uri="{FF2B5EF4-FFF2-40B4-BE49-F238E27FC236}">
                <a16:creationId xmlns:a16="http://schemas.microsoft.com/office/drawing/2014/main" id="{AB1085FE-A6F5-E193-C6A7-99DF7F9F85F0}"/>
              </a:ext>
            </a:extLst>
          </p:cNvPr>
          <p:cNvPicPr>
            <a:picLocks noGrp="1" noChangeAspect="1"/>
          </p:cNvPicPr>
          <p:nvPr>
            <p:ph idx="1"/>
          </p:nvPr>
        </p:nvPicPr>
        <p:blipFill>
          <a:blip r:embed="rId2"/>
          <a:stretch>
            <a:fillRect/>
          </a:stretch>
        </p:blipFill>
        <p:spPr>
          <a:xfrm>
            <a:off x="2770632" y="3317018"/>
            <a:ext cx="6650736" cy="1368552"/>
          </a:xfrm>
        </p:spPr>
      </p:pic>
    </p:spTree>
    <p:extLst>
      <p:ext uri="{BB962C8B-B14F-4D97-AF65-F5344CB8AC3E}">
        <p14:creationId xmlns:p14="http://schemas.microsoft.com/office/powerpoint/2010/main" val="37832780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52D6A70-372C-841D-80B7-21CDF770C09E}"/>
              </a:ext>
            </a:extLst>
          </p:cNvPr>
          <p:cNvSpPr>
            <a:spLocks noGrp="1"/>
          </p:cNvSpPr>
          <p:nvPr>
            <p:ph type="title"/>
          </p:nvPr>
        </p:nvSpPr>
        <p:spPr/>
        <p:txBody>
          <a:bodyPr/>
          <a:lstStyle/>
          <a:p>
            <a:endParaRPr lang="tr-TR"/>
          </a:p>
        </p:txBody>
      </p:sp>
      <p:pic>
        <p:nvPicPr>
          <p:cNvPr id="5" name="İçerik Yer Tutucusu 4">
            <a:extLst>
              <a:ext uri="{FF2B5EF4-FFF2-40B4-BE49-F238E27FC236}">
                <a16:creationId xmlns:a16="http://schemas.microsoft.com/office/drawing/2014/main" id="{67143EA5-3B69-3242-C241-121F634660E5}"/>
              </a:ext>
            </a:extLst>
          </p:cNvPr>
          <p:cNvPicPr>
            <a:picLocks noGrp="1" noChangeAspect="1"/>
          </p:cNvPicPr>
          <p:nvPr>
            <p:ph idx="1"/>
          </p:nvPr>
        </p:nvPicPr>
        <p:blipFill>
          <a:blip r:embed="rId2"/>
          <a:stretch>
            <a:fillRect/>
          </a:stretch>
        </p:blipFill>
        <p:spPr>
          <a:xfrm>
            <a:off x="2770632" y="3317018"/>
            <a:ext cx="6650736" cy="1368552"/>
          </a:xfrm>
        </p:spPr>
      </p:pic>
    </p:spTree>
    <p:extLst>
      <p:ext uri="{BB962C8B-B14F-4D97-AF65-F5344CB8AC3E}">
        <p14:creationId xmlns:p14="http://schemas.microsoft.com/office/powerpoint/2010/main" val="19467970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59F5322-AB8B-8677-0366-17E32B84BB39}"/>
              </a:ext>
            </a:extLst>
          </p:cNvPr>
          <p:cNvSpPr>
            <a:spLocks noGrp="1"/>
          </p:cNvSpPr>
          <p:nvPr>
            <p:ph type="title"/>
          </p:nvPr>
        </p:nvSpPr>
        <p:spPr/>
        <p:txBody>
          <a:bodyPr/>
          <a:lstStyle/>
          <a:p>
            <a:endParaRPr lang="tr-TR"/>
          </a:p>
        </p:txBody>
      </p:sp>
      <p:pic>
        <p:nvPicPr>
          <p:cNvPr id="5" name="İçerik Yer Tutucusu 4">
            <a:extLst>
              <a:ext uri="{FF2B5EF4-FFF2-40B4-BE49-F238E27FC236}">
                <a16:creationId xmlns:a16="http://schemas.microsoft.com/office/drawing/2014/main" id="{F674B187-C252-2FB6-75A7-08CCB0D9D985}"/>
              </a:ext>
            </a:extLst>
          </p:cNvPr>
          <p:cNvPicPr>
            <a:picLocks noGrp="1" noChangeAspect="1"/>
          </p:cNvPicPr>
          <p:nvPr>
            <p:ph idx="1"/>
          </p:nvPr>
        </p:nvPicPr>
        <p:blipFill>
          <a:blip r:embed="rId2"/>
          <a:stretch>
            <a:fillRect/>
          </a:stretch>
        </p:blipFill>
        <p:spPr>
          <a:xfrm>
            <a:off x="2770632" y="2804954"/>
            <a:ext cx="6650736" cy="2392680"/>
          </a:xfrm>
        </p:spPr>
      </p:pic>
    </p:spTree>
    <p:extLst>
      <p:ext uri="{BB962C8B-B14F-4D97-AF65-F5344CB8AC3E}">
        <p14:creationId xmlns:p14="http://schemas.microsoft.com/office/powerpoint/2010/main" val="7429654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8DA9B2C-488B-12A1-E124-5F54784B35EF}"/>
              </a:ext>
            </a:extLst>
          </p:cNvPr>
          <p:cNvSpPr>
            <a:spLocks noGrp="1"/>
          </p:cNvSpPr>
          <p:nvPr>
            <p:ph type="title"/>
          </p:nvPr>
        </p:nvSpPr>
        <p:spPr/>
        <p:txBody>
          <a:bodyPr/>
          <a:lstStyle/>
          <a:p>
            <a:endParaRPr lang="tr-TR"/>
          </a:p>
        </p:txBody>
      </p:sp>
      <p:pic>
        <p:nvPicPr>
          <p:cNvPr id="5" name="İçerik Yer Tutucusu 4">
            <a:extLst>
              <a:ext uri="{FF2B5EF4-FFF2-40B4-BE49-F238E27FC236}">
                <a16:creationId xmlns:a16="http://schemas.microsoft.com/office/drawing/2014/main" id="{7F2C4332-D62E-1175-D26C-85DEEF3F2870}"/>
              </a:ext>
            </a:extLst>
          </p:cNvPr>
          <p:cNvPicPr>
            <a:picLocks noGrp="1" noChangeAspect="1"/>
          </p:cNvPicPr>
          <p:nvPr>
            <p:ph idx="1"/>
          </p:nvPr>
        </p:nvPicPr>
        <p:blipFill>
          <a:blip r:embed="rId2"/>
          <a:stretch>
            <a:fillRect/>
          </a:stretch>
        </p:blipFill>
        <p:spPr>
          <a:xfrm>
            <a:off x="2770632" y="3060986"/>
            <a:ext cx="6650736" cy="1880616"/>
          </a:xfrm>
        </p:spPr>
      </p:pic>
    </p:spTree>
    <p:extLst>
      <p:ext uri="{BB962C8B-B14F-4D97-AF65-F5344CB8AC3E}">
        <p14:creationId xmlns:p14="http://schemas.microsoft.com/office/powerpoint/2010/main" val="1911124672"/>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1947</Words>
  <Application>Microsoft Office PowerPoint</Application>
  <PresentationFormat>Geniş ekran</PresentationFormat>
  <Paragraphs>67</Paragraphs>
  <Slides>27</Slides>
  <Notes>0</Notes>
  <HiddenSlides>0</HiddenSlides>
  <MMClips>0</MMClips>
  <ScaleCrop>false</ScaleCrop>
  <HeadingPairs>
    <vt:vector size="6" baseType="variant">
      <vt:variant>
        <vt:lpstr>Kullanılan Yazı Tipleri</vt:lpstr>
      </vt:variant>
      <vt:variant>
        <vt:i4>9</vt:i4>
      </vt:variant>
      <vt:variant>
        <vt:lpstr>Tema</vt:lpstr>
      </vt:variant>
      <vt:variant>
        <vt:i4>1</vt:i4>
      </vt:variant>
      <vt:variant>
        <vt:lpstr>Slayt Başlıkları</vt:lpstr>
      </vt:variant>
      <vt:variant>
        <vt:i4>27</vt:i4>
      </vt:variant>
    </vt:vector>
  </HeadingPairs>
  <TitlesOfParts>
    <vt:vector size="37" baseType="lpstr">
      <vt:lpstr>Arial</vt:lpstr>
      <vt:lpstr>Calibri</vt:lpstr>
      <vt:lpstr>Calibri Light</vt:lpstr>
      <vt:lpstr>DroidSans</vt:lpstr>
      <vt:lpstr>DroidSans-Bold</vt:lpstr>
      <vt:lpstr>DroidSans-Slant_213</vt:lpstr>
      <vt:lpstr>F106</vt:lpstr>
      <vt:lpstr>F31</vt:lpstr>
      <vt:lpstr>Times New Roman</vt:lpstr>
      <vt:lpstr>Office Teması</vt:lpstr>
      <vt:lpstr>İnsana konuşma yeteneği verildi ve konuşma, evrenin ölçüsü olan düşünceyi yarattı.  " İnsanlar, toplumları için ifade aracı haline gelmiş belirli bir dilin çokça merhametine bağlıdırlar.   Gerçekliğe esasen dil kullanmaksızın uyum sağladığımız ve dilin sadece belirli iletişim ve yansıma problemlerini çözmenin yanı sıra bir araç olduğu düşüncesi tamamen bir yanılsamadır.   Aslında, "gerçek dünya" büyük ölçüde grubun dil alışkanlıkları üzerine bilinçsizce inşa edilir. </vt:lpstr>
      <vt:lpstr>Nesnelere Giriş</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cengiz Han</dc:creator>
  <cp:lastModifiedBy>cengiz Han</cp:lastModifiedBy>
  <cp:revision>9</cp:revision>
  <dcterms:created xsi:type="dcterms:W3CDTF">2024-09-30T14:53:31Z</dcterms:created>
  <dcterms:modified xsi:type="dcterms:W3CDTF">2024-09-30T15:54:24Z</dcterms:modified>
</cp:coreProperties>
</file>